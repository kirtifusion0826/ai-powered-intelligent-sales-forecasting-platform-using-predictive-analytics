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C5E"/>
        </a:solidFill>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F96167"/>
          </a:solidFill>
          <a:ln/>
        </p:spPr>
      </p:sp>
      <p:sp>
        <p:nvSpPr>
          <p:cNvPr id="3" name="Shape 1"/>
          <p:cNvSpPr/>
          <p:nvPr/>
        </p:nvSpPr>
        <p:spPr>
          <a:xfrm>
            <a:off x="10789920" y="4206240"/>
            <a:ext cx="2743200" cy="2743200"/>
          </a:xfrm>
          <a:prstGeom prst="ellipse">
            <a:avLst/>
          </a:prstGeom>
          <a:solidFill>
            <a:srgbClr val="F9E795"/>
          </a:solidFill>
          <a:ln/>
        </p:spPr>
      </p:sp>
      <p:sp>
        <p:nvSpPr>
          <p:cNvPr id="4" name="Shape 2"/>
          <p:cNvSpPr/>
          <p:nvPr/>
        </p:nvSpPr>
        <p:spPr>
          <a:xfrm>
            <a:off x="-1188720" y="4937760"/>
            <a:ext cx="2926080" cy="2926080"/>
          </a:xfrm>
          <a:prstGeom prst="ellipse">
            <a:avLst/>
          </a:prstGeom>
          <a:solidFill>
            <a:srgbClr val="2F3C7E"/>
          </a:solidFill>
          <a:ln/>
        </p:spPr>
      </p:sp>
      <p:sp>
        <p:nvSpPr>
          <p:cNvPr id="5" name="Text 3"/>
          <p:cNvSpPr/>
          <p:nvPr/>
        </p:nvSpPr>
        <p:spPr>
          <a:xfrm>
            <a:off x="640080" y="1874520"/>
            <a:ext cx="7315200" cy="457200"/>
          </a:xfrm>
          <a:prstGeom prst="rect">
            <a:avLst/>
          </a:prstGeom>
          <a:noFill/>
          <a:ln/>
        </p:spPr>
        <p:txBody>
          <a:bodyPr wrap="square" rtlCol="0" anchor="ctr"/>
          <a:lstStyle/>
          <a:p>
            <a:pPr indent="0" marL="0">
              <a:buNone/>
            </a:pPr>
            <a:r>
              <a:rPr lang="en-US" sz="1500" b="1" spc="300" kern="0" dirty="0">
                <a:solidFill>
                  <a:srgbClr val="F9E795"/>
                </a:solidFill>
                <a:latin typeface="Calibri" pitchFamily="34" charset="0"/>
                <a:ea typeface="Calibri" pitchFamily="34" charset="-122"/>
                <a:cs typeface="Calibri" pitchFamily="34" charset="-120"/>
              </a:rPr>
              <a:t>SALESGENIE AI</a:t>
            </a:r>
            <a:endParaRPr lang="en-US" sz="1500" dirty="0"/>
          </a:p>
        </p:txBody>
      </p:sp>
      <p:sp>
        <p:nvSpPr>
          <p:cNvPr id="6" name="Text 4"/>
          <p:cNvSpPr/>
          <p:nvPr/>
        </p:nvSpPr>
        <p:spPr>
          <a:xfrm>
            <a:off x="640080" y="2331720"/>
            <a:ext cx="9601200" cy="1371600"/>
          </a:xfrm>
          <a:prstGeom prst="rect">
            <a:avLst/>
          </a:prstGeom>
          <a:noFill/>
          <a:ln/>
        </p:spPr>
        <p:txBody>
          <a:bodyPr wrap="square" rtlCol="0" anchor="ctr"/>
          <a:lstStyle/>
          <a:p>
            <a:pPr indent="0" marL="0">
              <a:buNone/>
            </a:pPr>
            <a:r>
              <a:rPr lang="en-US" sz="4400" b="1" dirty="0">
                <a:solidFill>
                  <a:srgbClr val="FFFFFF"/>
                </a:solidFill>
                <a:latin typeface="Bookman Old Style" pitchFamily="34" charset="0"/>
                <a:ea typeface="Bookman Old Style" pitchFamily="34" charset="-122"/>
                <a:cs typeface="Bookman Old Style" pitchFamily="34" charset="-120"/>
              </a:rPr>
              <a:t>Day 7 Backend Development Report</a:t>
            </a:r>
            <a:endParaRPr lang="en-US" sz="4400" dirty="0"/>
          </a:p>
        </p:txBody>
      </p:sp>
      <p:sp>
        <p:nvSpPr>
          <p:cNvPr id="7" name="Shape 5"/>
          <p:cNvSpPr/>
          <p:nvPr/>
        </p:nvSpPr>
        <p:spPr>
          <a:xfrm>
            <a:off x="640080" y="3794760"/>
            <a:ext cx="502920" cy="54864"/>
          </a:xfrm>
          <a:prstGeom prst="rect">
            <a:avLst/>
          </a:prstGeom>
          <a:solidFill>
            <a:srgbClr val="F96167"/>
          </a:solidFill>
          <a:ln/>
        </p:spPr>
      </p:sp>
      <p:sp>
        <p:nvSpPr>
          <p:cNvPr id="8" name="Text 6"/>
          <p:cNvSpPr/>
          <p:nvPr/>
        </p:nvSpPr>
        <p:spPr>
          <a:xfrm>
            <a:off x="640080" y="4069080"/>
            <a:ext cx="7315200" cy="365760"/>
          </a:xfrm>
          <a:prstGeom prst="rect">
            <a:avLst/>
          </a:prstGeom>
          <a:noFill/>
          <a:ln/>
        </p:spPr>
        <p:txBody>
          <a:bodyPr wrap="square" rtlCol="0" anchor="ctr"/>
          <a:lstStyle/>
          <a:p>
            <a:pPr indent="0" marL="0">
              <a:buNone/>
            </a:pPr>
            <a:r>
              <a:rPr lang="en-US" sz="1600" b="1" dirty="0">
                <a:solidFill>
                  <a:srgbClr val="F9E795"/>
                </a:solidFill>
                <a:latin typeface="Calibri" pitchFamily="34" charset="0"/>
                <a:ea typeface="Calibri" pitchFamily="34" charset="-122"/>
                <a:cs typeface="Calibri" pitchFamily="34" charset="-120"/>
              </a:rPr>
              <a:t>Role: </a:t>
            </a:r>
            <a:pPr indent="0" marL="0">
              <a:buNone/>
            </a:pPr>
            <a:r>
              <a:rPr lang="en-US" sz="1600" dirty="0">
                <a:solidFill>
                  <a:srgbClr val="FFFFFF"/>
                </a:solidFill>
                <a:latin typeface="Calibri" pitchFamily="34" charset="0"/>
                <a:ea typeface="Calibri" pitchFamily="34" charset="-122"/>
                <a:cs typeface="Calibri" pitchFamily="34" charset="-120"/>
              </a:rPr>
              <a:t>Backend Developer</a:t>
            </a:r>
            <a:endParaRPr lang="en-US" sz="1600" dirty="0"/>
          </a:p>
        </p:txBody>
      </p:sp>
      <p:sp>
        <p:nvSpPr>
          <p:cNvPr id="9" name="Text 7"/>
          <p:cNvSpPr/>
          <p:nvPr/>
        </p:nvSpPr>
        <p:spPr>
          <a:xfrm>
            <a:off x="640080" y="4434840"/>
            <a:ext cx="7315200" cy="365760"/>
          </a:xfrm>
          <a:prstGeom prst="rect">
            <a:avLst/>
          </a:prstGeom>
          <a:noFill/>
          <a:ln/>
        </p:spPr>
        <p:txBody>
          <a:bodyPr wrap="square" rtlCol="0" anchor="ctr"/>
          <a:lstStyle/>
          <a:p>
            <a:pPr indent="0" marL="0">
              <a:buNone/>
            </a:pPr>
            <a:r>
              <a:rPr lang="en-US" sz="1600" b="1" dirty="0">
                <a:solidFill>
                  <a:srgbClr val="F9E795"/>
                </a:solidFill>
                <a:latin typeface="Calibri" pitchFamily="34" charset="0"/>
                <a:ea typeface="Calibri" pitchFamily="34" charset="-122"/>
                <a:cs typeface="Calibri" pitchFamily="34" charset="-120"/>
              </a:rPr>
              <a:t>Module: </a:t>
            </a:r>
            <a:pPr indent="0" marL="0">
              <a:buNone/>
            </a:pPr>
            <a:r>
              <a:rPr lang="en-US" sz="1600" dirty="0">
                <a:solidFill>
                  <a:srgbClr val="FFFFFF"/>
                </a:solidFill>
                <a:latin typeface="Calibri" pitchFamily="34" charset="0"/>
                <a:ea typeface="Calibri" pitchFamily="34" charset="-122"/>
                <a:cs typeface="Calibri" pitchFamily="34" charset="-120"/>
              </a:rPr>
              <a:t>Lead Management &amp; Prospect Database</a:t>
            </a:r>
            <a:endParaRPr lang="en-US" sz="1600" dirty="0"/>
          </a:p>
        </p:txBody>
      </p:sp>
      <p:sp>
        <p:nvSpPr>
          <p:cNvPr id="10" name="Text 8"/>
          <p:cNvSpPr/>
          <p:nvPr/>
        </p:nvSpPr>
        <p:spPr>
          <a:xfrm>
            <a:off x="640080" y="4800600"/>
            <a:ext cx="7315200" cy="365760"/>
          </a:xfrm>
          <a:prstGeom prst="rect">
            <a:avLst/>
          </a:prstGeom>
          <a:noFill/>
          <a:ln/>
        </p:spPr>
        <p:txBody>
          <a:bodyPr wrap="square" rtlCol="0" anchor="ctr"/>
          <a:lstStyle/>
          <a:p>
            <a:pPr indent="0" marL="0">
              <a:buNone/>
            </a:pPr>
            <a:r>
              <a:rPr lang="en-US" sz="1600" b="1" dirty="0">
                <a:solidFill>
                  <a:srgbClr val="F9E795"/>
                </a:solidFill>
                <a:latin typeface="Calibri" pitchFamily="34" charset="0"/>
                <a:ea typeface="Calibri" pitchFamily="34" charset="-122"/>
                <a:cs typeface="Calibri" pitchFamily="34" charset="-120"/>
              </a:rPr>
              <a:t>Team: </a:t>
            </a:r>
            <a:pPr indent="0" marL="0">
              <a:buNone/>
            </a:pPr>
            <a:r>
              <a:rPr lang="en-US" sz="1600" dirty="0">
                <a:solidFill>
                  <a:srgbClr val="FFFFFF"/>
                </a:solidFill>
                <a:latin typeface="Calibri" pitchFamily="34" charset="0"/>
                <a:ea typeface="Calibri" pitchFamily="34" charset="-122"/>
                <a:cs typeface="Calibri" pitchFamily="34" charset="-120"/>
              </a:rPr>
              <a:t>Team C</a:t>
            </a:r>
            <a:endParaRPr lang="en-US" sz="1600" dirty="0"/>
          </a:p>
        </p:txBody>
      </p:sp>
      <p:sp>
        <p:nvSpPr>
          <p:cNvPr id="11" name="Text 9"/>
          <p:cNvSpPr/>
          <p:nvPr/>
        </p:nvSpPr>
        <p:spPr>
          <a:xfrm>
            <a:off x="640080" y="5166360"/>
            <a:ext cx="7315200" cy="365760"/>
          </a:xfrm>
          <a:prstGeom prst="rect">
            <a:avLst/>
          </a:prstGeom>
          <a:noFill/>
          <a:ln/>
        </p:spPr>
        <p:txBody>
          <a:bodyPr wrap="square" rtlCol="0" anchor="ctr"/>
          <a:lstStyle/>
          <a:p>
            <a:pPr indent="0" marL="0">
              <a:buNone/>
            </a:pPr>
            <a:r>
              <a:rPr lang="en-US" sz="1600" b="1" dirty="0">
                <a:solidFill>
                  <a:srgbClr val="F9E795"/>
                </a:solidFill>
                <a:latin typeface="Calibri" pitchFamily="34" charset="0"/>
                <a:ea typeface="Calibri" pitchFamily="34" charset="-122"/>
                <a:cs typeface="Calibri" pitchFamily="34" charset="-120"/>
              </a:rPr>
              <a:t>Name: </a:t>
            </a:r>
            <a:pPr indent="0" marL="0">
              <a:buNone/>
            </a:pPr>
            <a:r>
              <a:rPr lang="en-US" sz="1600" dirty="0">
                <a:solidFill>
                  <a:srgbClr val="FFFFFF"/>
                </a:solidFill>
                <a:latin typeface="Calibri" pitchFamily="34" charset="0"/>
                <a:ea typeface="Calibri" pitchFamily="34" charset="-122"/>
                <a:cs typeface="Calibri" pitchFamily="34" charset="-120"/>
              </a:rPr>
              <a:t>Kirti Chandra Nayak</a:t>
            </a:r>
            <a:endParaRPr lang="en-US" sz="1600" dirty="0"/>
          </a:p>
        </p:txBody>
      </p:sp>
      <p:sp>
        <p:nvSpPr>
          <p:cNvPr id="12" name="Text 10"/>
          <p:cNvSpPr/>
          <p:nvPr/>
        </p:nvSpPr>
        <p:spPr>
          <a:xfrm>
            <a:off x="11368735" y="6355080"/>
            <a:ext cx="548640" cy="320040"/>
          </a:xfrm>
          <a:prstGeom prst="rect">
            <a:avLst/>
          </a:prstGeom>
          <a:noFill/>
          <a:ln/>
        </p:spPr>
        <p:txBody>
          <a:bodyPr wrap="square" rtlCol="0" anchor="ctr"/>
          <a:lstStyle/>
          <a:p>
            <a:pPr algn="r" indent="0" marL="0">
              <a:buNone/>
            </a:pPr>
            <a:r>
              <a:rPr lang="en-US" sz="1000" dirty="0">
                <a:solidFill>
                  <a:srgbClr val="6E7180"/>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SECTION 1</a:t>
            </a:r>
            <a:endParaRPr lang="en-US" sz="1200" dirty="0"/>
          </a:p>
        </p:txBody>
      </p:sp>
      <p:sp>
        <p:nvSpPr>
          <p:cNvPr id="3" name="Text 1"/>
          <p:cNvSpPr/>
          <p:nvPr/>
        </p:nvSpPr>
        <p:spPr>
          <a:xfrm>
            <a:off x="548640" y="777240"/>
            <a:ext cx="8686800" cy="822960"/>
          </a:xfrm>
          <a:prstGeom prst="rect">
            <a:avLst/>
          </a:prstGeom>
          <a:noFill/>
          <a:ln/>
        </p:spPr>
        <p:txBody>
          <a:bodyPr wrap="square" rtlCol="0" anchor="ctr"/>
          <a:lstStyle/>
          <a:p>
            <a:pPr indent="0" marL="0">
              <a:buNone/>
            </a:pPr>
            <a:r>
              <a:rPr lang="en-US" sz="3400" b="1" dirty="0">
                <a:solidFill>
                  <a:srgbClr val="232C5E"/>
                </a:solidFill>
                <a:latin typeface="Bookman Old Style" pitchFamily="34" charset="0"/>
                <a:ea typeface="Bookman Old Style" pitchFamily="34" charset="-122"/>
                <a:cs typeface="Bookman Old Style" pitchFamily="34" charset="-120"/>
              </a:rPr>
              <a:t>Introduction</a:t>
            </a:r>
            <a:endParaRPr lang="en-US" sz="3400" dirty="0"/>
          </a:p>
        </p:txBody>
      </p:sp>
      <p:sp>
        <p:nvSpPr>
          <p:cNvPr id="4" name="Shape 2"/>
          <p:cNvSpPr/>
          <p:nvPr/>
        </p:nvSpPr>
        <p:spPr>
          <a:xfrm>
            <a:off x="548640" y="1965960"/>
            <a:ext cx="914400" cy="914400"/>
          </a:xfrm>
          <a:prstGeom prst="ellipse">
            <a:avLst/>
          </a:prstGeom>
          <a:solidFill>
            <a:srgbClr val="232C5E"/>
          </a:solidFill>
          <a:ln/>
        </p:spPr>
      </p:sp>
      <p:sp>
        <p:nvSpPr>
          <p:cNvPr id="5" name="Text 3"/>
          <p:cNvSpPr/>
          <p:nvPr/>
        </p:nvSpPr>
        <p:spPr>
          <a:xfrm>
            <a:off x="548640" y="1965960"/>
            <a:ext cx="914400" cy="9144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320040" y="3017520"/>
            <a:ext cx="1371600" cy="640080"/>
          </a:xfrm>
          <a:prstGeom prst="rect">
            <a:avLst/>
          </a:prstGeom>
          <a:noFill/>
          <a:ln/>
        </p:spPr>
        <p:txBody>
          <a:bodyPr wrap="square" rtlCol="0" anchor="ctr"/>
          <a:lstStyle/>
          <a:p>
            <a:pPr algn="ctr" indent="0" marL="0">
              <a:buNone/>
            </a:pPr>
            <a:r>
              <a:rPr lang="en-US" sz="1200" b="1" dirty="0">
                <a:solidFill>
                  <a:srgbClr val="232C5E"/>
                </a:solidFill>
                <a:latin typeface="Calibri" pitchFamily="34" charset="0"/>
                <a:ea typeface="Calibri" pitchFamily="34" charset="-122"/>
                <a:cs typeface="Calibri" pitchFamily="34" charset="-120"/>
              </a:rPr>
              <a:t>Backend</a:t>
            </a:r>
            <a:endParaRPr lang="en-US" sz="1200" dirty="0"/>
          </a:p>
          <a:p>
            <a:pPr algn="ctr" indent="0" marL="0">
              <a:buNone/>
            </a:pPr>
            <a:r>
              <a:rPr lang="en-US" sz="1200" b="1" dirty="0">
                <a:solidFill>
                  <a:srgbClr val="232C5E"/>
                </a:solidFill>
                <a:latin typeface="Calibri" pitchFamily="34" charset="0"/>
                <a:ea typeface="Calibri" pitchFamily="34" charset="-122"/>
                <a:cs typeface="Calibri" pitchFamily="34" charset="-120"/>
              </a:rPr>
              <a:t>Developer</a:t>
            </a:r>
            <a:endParaRPr lang="en-US" sz="1200" dirty="0"/>
          </a:p>
        </p:txBody>
      </p:sp>
      <p:sp>
        <p:nvSpPr>
          <p:cNvPr id="7" name="Shape 5"/>
          <p:cNvSpPr/>
          <p:nvPr/>
        </p:nvSpPr>
        <p:spPr>
          <a:xfrm>
            <a:off x="1920240" y="1783080"/>
            <a:ext cx="9692640" cy="3383280"/>
          </a:xfrm>
          <a:prstGeom prst="roundRect">
            <a:avLst>
              <a:gd name="adj" fmla="val 3243"/>
            </a:avLst>
          </a:prstGeom>
          <a:solidFill>
            <a:srgbClr val="FFF7F3"/>
          </a:solidFill>
          <a:ln/>
          <a:effectLst>
            <a:outerShdw sx="100000" sy="100000" kx="0" ky="0" algn="bl" rotWithShape="0" blurRad="101600" dist="38100" dir="5400000">
              <a:srgbClr val="000000">
                <a:alpha val="12000"/>
              </a:srgbClr>
            </a:outerShdw>
          </a:effectLst>
        </p:spPr>
      </p:sp>
      <p:sp>
        <p:nvSpPr>
          <p:cNvPr id="8" name="Text 6"/>
          <p:cNvSpPr/>
          <p:nvPr/>
        </p:nvSpPr>
        <p:spPr>
          <a:xfrm>
            <a:off x="2286000" y="2103120"/>
            <a:ext cx="8961120" cy="2834640"/>
          </a:xfrm>
          <a:prstGeom prst="rect">
            <a:avLst/>
          </a:prstGeom>
          <a:noFill/>
          <a:ln/>
        </p:spPr>
        <p:txBody>
          <a:bodyPr wrap="square" rtlCol="0" anchor="t"/>
          <a:lstStyle/>
          <a:p>
            <a:pPr indent="0" marL="0">
              <a:lnSpc>
                <a:spcPct val="125000"/>
              </a:lnSpc>
              <a:buNone/>
            </a:pPr>
            <a:r>
              <a:rPr lang="en-US" sz="1600" dirty="0">
                <a:solidFill>
                  <a:srgbClr val="2B2B33"/>
                </a:solidFill>
                <a:latin typeface="Calibri" pitchFamily="34" charset="0"/>
                <a:ea typeface="Calibri" pitchFamily="34" charset="-122"/>
                <a:cs typeface="Calibri" pitchFamily="34" charset="-120"/>
              </a:rPr>
              <a:t>On Day 7 of the SalesGenie AI project, I worked as a Backend Developer focusing on implementing the Lead/Prospect Database models and CRUD APIs. This module is essential because it acts as the foundation of the entire system where all customer and lead data is stored and managed. The backend ensures that the application can efficiently handle large amounts of data and provide accurate responses to the frontend.</a:t>
            </a:r>
            <a:endParaRPr lang="en-US" sz="1600" dirty="0"/>
          </a:p>
        </p:txBody>
      </p:sp>
      <p:sp>
        <p:nvSpPr>
          <p:cNvPr id="9" name="Text 7"/>
          <p:cNvSpPr/>
          <p:nvPr/>
        </p:nvSpPr>
        <p:spPr>
          <a:xfrm>
            <a:off x="11368735" y="6355080"/>
            <a:ext cx="548640" cy="320040"/>
          </a:xfrm>
          <a:prstGeom prst="rect">
            <a:avLst/>
          </a:prstGeom>
          <a:noFill/>
          <a:ln/>
        </p:spPr>
        <p:txBody>
          <a:bodyPr wrap="square" rtlCol="0" anchor="ctr"/>
          <a:lstStyle/>
          <a:p>
            <a:pPr algn="r" indent="0" marL="0">
              <a:buNone/>
            </a:pPr>
            <a:r>
              <a:rPr lang="en-US" sz="1000" dirty="0">
                <a:solidFill>
                  <a:srgbClr val="6E718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SECTION 2</a:t>
            </a:r>
            <a:endParaRPr lang="en-US" sz="1200" dirty="0"/>
          </a:p>
        </p:txBody>
      </p:sp>
      <p:sp>
        <p:nvSpPr>
          <p:cNvPr id="3" name="Text 1"/>
          <p:cNvSpPr/>
          <p:nvPr/>
        </p:nvSpPr>
        <p:spPr>
          <a:xfrm>
            <a:off x="548640" y="777240"/>
            <a:ext cx="8686800" cy="822960"/>
          </a:xfrm>
          <a:prstGeom prst="rect">
            <a:avLst/>
          </a:prstGeom>
          <a:noFill/>
          <a:ln/>
        </p:spPr>
        <p:txBody>
          <a:bodyPr wrap="square" rtlCol="0" anchor="ctr"/>
          <a:lstStyle/>
          <a:p>
            <a:pPr indent="0" marL="0">
              <a:buNone/>
            </a:pPr>
            <a:r>
              <a:rPr lang="en-US" sz="3400" b="1" dirty="0">
                <a:solidFill>
                  <a:srgbClr val="232C5E"/>
                </a:solidFill>
                <a:latin typeface="Bookman Old Style" pitchFamily="34" charset="0"/>
                <a:ea typeface="Bookman Old Style" pitchFamily="34" charset="-122"/>
                <a:cs typeface="Bookman Old Style" pitchFamily="34" charset="-120"/>
              </a:rPr>
              <a:t>Objective</a:t>
            </a:r>
            <a:endParaRPr lang="en-US" sz="3400" dirty="0"/>
          </a:p>
        </p:txBody>
      </p:sp>
      <p:sp>
        <p:nvSpPr>
          <p:cNvPr id="4" name="Text 2"/>
          <p:cNvSpPr/>
          <p:nvPr/>
        </p:nvSpPr>
        <p:spPr>
          <a:xfrm>
            <a:off x="548640" y="1691640"/>
            <a:ext cx="11064240" cy="1371600"/>
          </a:xfrm>
          <a:prstGeom prst="rect">
            <a:avLst/>
          </a:prstGeom>
          <a:noFill/>
          <a:ln/>
        </p:spPr>
        <p:txBody>
          <a:bodyPr wrap="square" rtlCol="0" anchor="t"/>
          <a:lstStyle/>
          <a:p>
            <a:pPr indent="0" marL="0">
              <a:lnSpc>
                <a:spcPct val="125000"/>
              </a:lnSpc>
              <a:buNone/>
            </a:pPr>
            <a:r>
              <a:rPr lang="en-US" sz="1600" dirty="0">
                <a:solidFill>
                  <a:srgbClr val="2B2B33"/>
                </a:solidFill>
                <a:latin typeface="Calibri" pitchFamily="34" charset="0"/>
                <a:ea typeface="Calibri" pitchFamily="34" charset="-122"/>
                <a:cs typeface="Calibri" pitchFamily="34" charset="-120"/>
              </a:rPr>
              <a:t>The objective of this task was to design a scalable backend system that can store prospect information and provide APIs for performing CRUD operations. The system should allow users to create new leads, retrieve existing data, update information, and delete records when necessary.</a:t>
            </a:r>
            <a:endParaRPr lang="en-US" sz="1600" dirty="0"/>
          </a:p>
        </p:txBody>
      </p:sp>
      <p:sp>
        <p:nvSpPr>
          <p:cNvPr id="5" name="Shape 3"/>
          <p:cNvSpPr/>
          <p:nvPr/>
        </p:nvSpPr>
        <p:spPr>
          <a:xfrm>
            <a:off x="548640" y="3429000"/>
            <a:ext cx="2606040" cy="2377440"/>
          </a:xfrm>
          <a:prstGeom prst="roundRect">
            <a:avLst>
              <a:gd name="adj" fmla="val 3846"/>
            </a:avLst>
          </a:prstGeom>
          <a:solidFill>
            <a:srgbClr val="FFF7F3"/>
          </a:solidFill>
          <a:ln/>
          <a:effectLst>
            <a:outerShdw sx="100000" sy="100000" kx="0" ky="0" algn="bl" rotWithShape="0" blurRad="76200" dist="25400" dir="5400000">
              <a:srgbClr val="000000">
                <a:alpha val="10000"/>
              </a:srgbClr>
            </a:outerShdw>
          </a:effectLst>
        </p:spPr>
      </p:sp>
      <p:sp>
        <p:nvSpPr>
          <p:cNvPr id="6" name="Shape 4"/>
          <p:cNvSpPr/>
          <p:nvPr/>
        </p:nvSpPr>
        <p:spPr>
          <a:xfrm>
            <a:off x="1440180" y="3749040"/>
            <a:ext cx="822960" cy="822960"/>
          </a:xfrm>
          <a:prstGeom prst="ellipse">
            <a:avLst/>
          </a:prstGeom>
          <a:solidFill>
            <a:srgbClr val="F96167"/>
          </a:solidFill>
          <a:ln/>
        </p:spPr>
      </p:sp>
      <p:sp>
        <p:nvSpPr>
          <p:cNvPr id="7" name="Text 5"/>
          <p:cNvSpPr/>
          <p:nvPr/>
        </p:nvSpPr>
        <p:spPr>
          <a:xfrm>
            <a:off x="1440180" y="3749040"/>
            <a:ext cx="822960" cy="8229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a:off x="548640" y="4800600"/>
            <a:ext cx="2606040" cy="365760"/>
          </a:xfrm>
          <a:prstGeom prst="rect">
            <a:avLst/>
          </a:prstGeom>
          <a:noFill/>
          <a:ln/>
        </p:spPr>
        <p:txBody>
          <a:bodyPr wrap="square" rtlCol="0" anchor="ctr"/>
          <a:lstStyle/>
          <a:p>
            <a:pPr algn="ctr" indent="0" marL="0">
              <a:buNone/>
            </a:pPr>
            <a:r>
              <a:rPr lang="en-US" sz="1700" b="1" dirty="0">
                <a:solidFill>
                  <a:srgbClr val="232C5E"/>
                </a:solidFill>
                <a:latin typeface="Bookman Old Style" pitchFamily="34" charset="0"/>
                <a:ea typeface="Bookman Old Style" pitchFamily="34" charset="-122"/>
                <a:cs typeface="Bookman Old Style" pitchFamily="34" charset="-120"/>
              </a:rPr>
              <a:t>Create</a:t>
            </a:r>
            <a:endParaRPr lang="en-US" sz="1700" dirty="0"/>
          </a:p>
        </p:txBody>
      </p:sp>
      <p:sp>
        <p:nvSpPr>
          <p:cNvPr id="9" name="Text 7"/>
          <p:cNvSpPr/>
          <p:nvPr/>
        </p:nvSpPr>
        <p:spPr>
          <a:xfrm>
            <a:off x="548640" y="5212080"/>
            <a:ext cx="2606040" cy="365760"/>
          </a:xfrm>
          <a:prstGeom prst="rect">
            <a:avLst/>
          </a:prstGeom>
          <a:noFill/>
          <a:ln/>
        </p:spPr>
        <p:txBody>
          <a:bodyPr wrap="square" rtlCol="0" anchor="ctr"/>
          <a:lstStyle/>
          <a:p>
            <a:pPr algn="ctr" indent="0" marL="0">
              <a:buNone/>
            </a:pPr>
            <a:r>
              <a:rPr lang="en-US" sz="1200" dirty="0">
                <a:solidFill>
                  <a:srgbClr val="6E7180"/>
                </a:solidFill>
                <a:latin typeface="Calibri" pitchFamily="34" charset="0"/>
                <a:ea typeface="Calibri" pitchFamily="34" charset="-122"/>
                <a:cs typeface="Calibri" pitchFamily="34" charset="-120"/>
              </a:rPr>
              <a:t>new leads</a:t>
            </a:r>
            <a:endParaRPr lang="en-US" sz="1200" dirty="0"/>
          </a:p>
        </p:txBody>
      </p:sp>
      <p:sp>
        <p:nvSpPr>
          <p:cNvPr id="10" name="Shape 8"/>
          <p:cNvSpPr/>
          <p:nvPr/>
        </p:nvSpPr>
        <p:spPr>
          <a:xfrm>
            <a:off x="3474720" y="3429000"/>
            <a:ext cx="2606040" cy="2377440"/>
          </a:xfrm>
          <a:prstGeom prst="roundRect">
            <a:avLst>
              <a:gd name="adj" fmla="val 3846"/>
            </a:avLst>
          </a:prstGeom>
          <a:solidFill>
            <a:srgbClr val="FFF7F3"/>
          </a:solidFill>
          <a:ln/>
          <a:effectLst>
            <a:outerShdw sx="100000" sy="100000" kx="0" ky="0" algn="bl" rotWithShape="0" blurRad="76200" dist="25400" dir="5400000">
              <a:srgbClr val="000000">
                <a:alpha val="10000"/>
              </a:srgbClr>
            </a:outerShdw>
          </a:effectLst>
        </p:spPr>
      </p:sp>
      <p:sp>
        <p:nvSpPr>
          <p:cNvPr id="11" name="Shape 9"/>
          <p:cNvSpPr/>
          <p:nvPr/>
        </p:nvSpPr>
        <p:spPr>
          <a:xfrm>
            <a:off x="4366260" y="3749040"/>
            <a:ext cx="822960" cy="822960"/>
          </a:xfrm>
          <a:prstGeom prst="ellipse">
            <a:avLst/>
          </a:prstGeom>
          <a:solidFill>
            <a:srgbClr val="2F3C7E"/>
          </a:solidFill>
          <a:ln/>
        </p:spPr>
      </p:sp>
      <p:sp>
        <p:nvSpPr>
          <p:cNvPr id="12" name="Text 10"/>
          <p:cNvSpPr/>
          <p:nvPr/>
        </p:nvSpPr>
        <p:spPr>
          <a:xfrm>
            <a:off x="4366260" y="3749040"/>
            <a:ext cx="822960" cy="8229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R</a:t>
            </a:r>
            <a:endParaRPr lang="en-US" sz="2600" dirty="0"/>
          </a:p>
        </p:txBody>
      </p:sp>
      <p:sp>
        <p:nvSpPr>
          <p:cNvPr id="13" name="Text 11"/>
          <p:cNvSpPr/>
          <p:nvPr/>
        </p:nvSpPr>
        <p:spPr>
          <a:xfrm>
            <a:off x="3474720" y="4800600"/>
            <a:ext cx="2606040" cy="365760"/>
          </a:xfrm>
          <a:prstGeom prst="rect">
            <a:avLst/>
          </a:prstGeom>
          <a:noFill/>
          <a:ln/>
        </p:spPr>
        <p:txBody>
          <a:bodyPr wrap="square" rtlCol="0" anchor="ctr"/>
          <a:lstStyle/>
          <a:p>
            <a:pPr algn="ctr" indent="0" marL="0">
              <a:buNone/>
            </a:pPr>
            <a:r>
              <a:rPr lang="en-US" sz="1700" b="1" dirty="0">
                <a:solidFill>
                  <a:srgbClr val="232C5E"/>
                </a:solidFill>
                <a:latin typeface="Bookman Old Style" pitchFamily="34" charset="0"/>
                <a:ea typeface="Bookman Old Style" pitchFamily="34" charset="-122"/>
                <a:cs typeface="Bookman Old Style" pitchFamily="34" charset="-120"/>
              </a:rPr>
              <a:t>Retrieve</a:t>
            </a:r>
            <a:endParaRPr lang="en-US" sz="1700" dirty="0"/>
          </a:p>
        </p:txBody>
      </p:sp>
      <p:sp>
        <p:nvSpPr>
          <p:cNvPr id="14" name="Text 12"/>
          <p:cNvSpPr/>
          <p:nvPr/>
        </p:nvSpPr>
        <p:spPr>
          <a:xfrm>
            <a:off x="3474720" y="5212080"/>
            <a:ext cx="2606040" cy="365760"/>
          </a:xfrm>
          <a:prstGeom prst="rect">
            <a:avLst/>
          </a:prstGeom>
          <a:noFill/>
          <a:ln/>
        </p:spPr>
        <p:txBody>
          <a:bodyPr wrap="square" rtlCol="0" anchor="ctr"/>
          <a:lstStyle/>
          <a:p>
            <a:pPr algn="ctr" indent="0" marL="0">
              <a:buNone/>
            </a:pPr>
            <a:r>
              <a:rPr lang="en-US" sz="1200" dirty="0">
                <a:solidFill>
                  <a:srgbClr val="6E7180"/>
                </a:solidFill>
                <a:latin typeface="Calibri" pitchFamily="34" charset="0"/>
                <a:ea typeface="Calibri" pitchFamily="34" charset="-122"/>
                <a:cs typeface="Calibri" pitchFamily="34" charset="-120"/>
              </a:rPr>
              <a:t>existing data</a:t>
            </a:r>
            <a:endParaRPr lang="en-US" sz="1200" dirty="0"/>
          </a:p>
        </p:txBody>
      </p:sp>
      <p:sp>
        <p:nvSpPr>
          <p:cNvPr id="15" name="Shape 13"/>
          <p:cNvSpPr/>
          <p:nvPr/>
        </p:nvSpPr>
        <p:spPr>
          <a:xfrm>
            <a:off x="6400800" y="3429000"/>
            <a:ext cx="2606040" cy="2377440"/>
          </a:xfrm>
          <a:prstGeom prst="roundRect">
            <a:avLst>
              <a:gd name="adj" fmla="val 3846"/>
            </a:avLst>
          </a:prstGeom>
          <a:solidFill>
            <a:srgbClr val="FFF7F3"/>
          </a:solidFill>
          <a:ln/>
          <a:effectLst>
            <a:outerShdw sx="100000" sy="100000" kx="0" ky="0" algn="bl" rotWithShape="0" blurRad="76200" dist="25400" dir="5400000">
              <a:srgbClr val="000000">
                <a:alpha val="10000"/>
              </a:srgbClr>
            </a:outerShdw>
          </a:effectLst>
        </p:spPr>
      </p:sp>
      <p:sp>
        <p:nvSpPr>
          <p:cNvPr id="16" name="Shape 14"/>
          <p:cNvSpPr/>
          <p:nvPr/>
        </p:nvSpPr>
        <p:spPr>
          <a:xfrm>
            <a:off x="7292340" y="3749040"/>
            <a:ext cx="822960" cy="822960"/>
          </a:xfrm>
          <a:prstGeom prst="ellipse">
            <a:avLst/>
          </a:prstGeom>
          <a:solidFill>
            <a:srgbClr val="E8A33D"/>
          </a:solidFill>
          <a:ln/>
        </p:spPr>
      </p:sp>
      <p:sp>
        <p:nvSpPr>
          <p:cNvPr id="17" name="Text 15"/>
          <p:cNvSpPr/>
          <p:nvPr/>
        </p:nvSpPr>
        <p:spPr>
          <a:xfrm>
            <a:off x="7292340" y="3749040"/>
            <a:ext cx="822960" cy="8229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U</a:t>
            </a:r>
            <a:endParaRPr lang="en-US" sz="2600" dirty="0"/>
          </a:p>
        </p:txBody>
      </p:sp>
      <p:sp>
        <p:nvSpPr>
          <p:cNvPr id="18" name="Text 16"/>
          <p:cNvSpPr/>
          <p:nvPr/>
        </p:nvSpPr>
        <p:spPr>
          <a:xfrm>
            <a:off x="6400800" y="4800600"/>
            <a:ext cx="2606040" cy="365760"/>
          </a:xfrm>
          <a:prstGeom prst="rect">
            <a:avLst/>
          </a:prstGeom>
          <a:noFill/>
          <a:ln/>
        </p:spPr>
        <p:txBody>
          <a:bodyPr wrap="square" rtlCol="0" anchor="ctr"/>
          <a:lstStyle/>
          <a:p>
            <a:pPr algn="ctr" indent="0" marL="0">
              <a:buNone/>
            </a:pPr>
            <a:r>
              <a:rPr lang="en-US" sz="1700" b="1" dirty="0">
                <a:solidFill>
                  <a:srgbClr val="232C5E"/>
                </a:solidFill>
                <a:latin typeface="Bookman Old Style" pitchFamily="34" charset="0"/>
                <a:ea typeface="Bookman Old Style" pitchFamily="34" charset="-122"/>
                <a:cs typeface="Bookman Old Style" pitchFamily="34" charset="-120"/>
              </a:rPr>
              <a:t>Update</a:t>
            </a:r>
            <a:endParaRPr lang="en-US" sz="1700" dirty="0"/>
          </a:p>
        </p:txBody>
      </p:sp>
      <p:sp>
        <p:nvSpPr>
          <p:cNvPr id="19" name="Text 17"/>
          <p:cNvSpPr/>
          <p:nvPr/>
        </p:nvSpPr>
        <p:spPr>
          <a:xfrm>
            <a:off x="6400800" y="5212080"/>
            <a:ext cx="2606040" cy="365760"/>
          </a:xfrm>
          <a:prstGeom prst="rect">
            <a:avLst/>
          </a:prstGeom>
          <a:noFill/>
          <a:ln/>
        </p:spPr>
        <p:txBody>
          <a:bodyPr wrap="square" rtlCol="0" anchor="ctr"/>
          <a:lstStyle/>
          <a:p>
            <a:pPr algn="ctr" indent="0" marL="0">
              <a:buNone/>
            </a:pPr>
            <a:r>
              <a:rPr lang="en-US" sz="1200" dirty="0">
                <a:solidFill>
                  <a:srgbClr val="6E7180"/>
                </a:solidFill>
                <a:latin typeface="Calibri" pitchFamily="34" charset="0"/>
                <a:ea typeface="Calibri" pitchFamily="34" charset="-122"/>
                <a:cs typeface="Calibri" pitchFamily="34" charset="-120"/>
              </a:rPr>
              <a:t>information</a:t>
            </a:r>
            <a:endParaRPr lang="en-US" sz="1200" dirty="0"/>
          </a:p>
        </p:txBody>
      </p:sp>
      <p:sp>
        <p:nvSpPr>
          <p:cNvPr id="20" name="Shape 18"/>
          <p:cNvSpPr/>
          <p:nvPr/>
        </p:nvSpPr>
        <p:spPr>
          <a:xfrm>
            <a:off x="9326880" y="3429000"/>
            <a:ext cx="2606040" cy="2377440"/>
          </a:xfrm>
          <a:prstGeom prst="roundRect">
            <a:avLst>
              <a:gd name="adj" fmla="val 3846"/>
            </a:avLst>
          </a:prstGeom>
          <a:solidFill>
            <a:srgbClr val="FFF7F3"/>
          </a:solidFill>
          <a:ln/>
          <a:effectLst>
            <a:outerShdw sx="100000" sy="100000" kx="0" ky="0" algn="bl" rotWithShape="0" blurRad="76200" dist="25400" dir="5400000">
              <a:srgbClr val="000000">
                <a:alpha val="10000"/>
              </a:srgbClr>
            </a:outerShdw>
          </a:effectLst>
        </p:spPr>
      </p:sp>
      <p:sp>
        <p:nvSpPr>
          <p:cNvPr id="21" name="Shape 19"/>
          <p:cNvSpPr/>
          <p:nvPr/>
        </p:nvSpPr>
        <p:spPr>
          <a:xfrm>
            <a:off x="10218420" y="3749040"/>
            <a:ext cx="822960" cy="822960"/>
          </a:xfrm>
          <a:prstGeom prst="ellipse">
            <a:avLst/>
          </a:prstGeom>
          <a:solidFill>
            <a:srgbClr val="8A8FBF"/>
          </a:solidFill>
          <a:ln/>
        </p:spPr>
      </p:sp>
      <p:sp>
        <p:nvSpPr>
          <p:cNvPr id="22" name="Text 20"/>
          <p:cNvSpPr/>
          <p:nvPr/>
        </p:nvSpPr>
        <p:spPr>
          <a:xfrm>
            <a:off x="10218420" y="3749040"/>
            <a:ext cx="822960" cy="8229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X</a:t>
            </a:r>
            <a:endParaRPr lang="en-US" sz="2600" dirty="0"/>
          </a:p>
        </p:txBody>
      </p:sp>
      <p:sp>
        <p:nvSpPr>
          <p:cNvPr id="23" name="Text 21"/>
          <p:cNvSpPr/>
          <p:nvPr/>
        </p:nvSpPr>
        <p:spPr>
          <a:xfrm>
            <a:off x="9326880" y="4800600"/>
            <a:ext cx="2606040" cy="365760"/>
          </a:xfrm>
          <a:prstGeom prst="rect">
            <a:avLst/>
          </a:prstGeom>
          <a:noFill/>
          <a:ln/>
        </p:spPr>
        <p:txBody>
          <a:bodyPr wrap="square" rtlCol="0" anchor="ctr"/>
          <a:lstStyle/>
          <a:p>
            <a:pPr algn="ctr" indent="0" marL="0">
              <a:buNone/>
            </a:pPr>
            <a:r>
              <a:rPr lang="en-US" sz="1700" b="1" dirty="0">
                <a:solidFill>
                  <a:srgbClr val="232C5E"/>
                </a:solidFill>
                <a:latin typeface="Bookman Old Style" pitchFamily="34" charset="0"/>
                <a:ea typeface="Bookman Old Style" pitchFamily="34" charset="-122"/>
                <a:cs typeface="Bookman Old Style" pitchFamily="34" charset="-120"/>
              </a:rPr>
              <a:t>Delete</a:t>
            </a:r>
            <a:endParaRPr lang="en-US" sz="1700" dirty="0"/>
          </a:p>
        </p:txBody>
      </p:sp>
      <p:sp>
        <p:nvSpPr>
          <p:cNvPr id="24" name="Text 22"/>
          <p:cNvSpPr/>
          <p:nvPr/>
        </p:nvSpPr>
        <p:spPr>
          <a:xfrm>
            <a:off x="9326880" y="5212080"/>
            <a:ext cx="2606040" cy="365760"/>
          </a:xfrm>
          <a:prstGeom prst="rect">
            <a:avLst/>
          </a:prstGeom>
          <a:noFill/>
          <a:ln/>
        </p:spPr>
        <p:txBody>
          <a:bodyPr wrap="square" rtlCol="0" anchor="ctr"/>
          <a:lstStyle/>
          <a:p>
            <a:pPr algn="ctr" indent="0" marL="0">
              <a:buNone/>
            </a:pPr>
            <a:r>
              <a:rPr lang="en-US" sz="1200" dirty="0">
                <a:solidFill>
                  <a:srgbClr val="6E7180"/>
                </a:solidFill>
                <a:latin typeface="Calibri" pitchFamily="34" charset="0"/>
                <a:ea typeface="Calibri" pitchFamily="34" charset="-122"/>
                <a:cs typeface="Calibri" pitchFamily="34" charset="-120"/>
              </a:rPr>
              <a:t>records</a:t>
            </a:r>
            <a:endParaRPr lang="en-US" sz="1200" dirty="0"/>
          </a:p>
        </p:txBody>
      </p:sp>
      <p:sp>
        <p:nvSpPr>
          <p:cNvPr id="25" name="Text 23"/>
          <p:cNvSpPr/>
          <p:nvPr/>
        </p:nvSpPr>
        <p:spPr>
          <a:xfrm>
            <a:off x="11368735" y="6355080"/>
            <a:ext cx="548640" cy="320040"/>
          </a:xfrm>
          <a:prstGeom prst="rect">
            <a:avLst/>
          </a:prstGeom>
          <a:noFill/>
          <a:ln/>
        </p:spPr>
        <p:txBody>
          <a:bodyPr wrap="square" rtlCol="0" anchor="ctr"/>
          <a:lstStyle/>
          <a:p>
            <a:pPr algn="r" indent="0" marL="0">
              <a:buNone/>
            </a:pPr>
            <a:r>
              <a:rPr lang="en-US" sz="1000" dirty="0">
                <a:solidFill>
                  <a:srgbClr val="6E718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SECTION 3</a:t>
            </a:r>
            <a:endParaRPr lang="en-US" sz="1200" dirty="0"/>
          </a:p>
        </p:txBody>
      </p:sp>
      <p:sp>
        <p:nvSpPr>
          <p:cNvPr id="3" name="Text 1"/>
          <p:cNvSpPr/>
          <p:nvPr/>
        </p:nvSpPr>
        <p:spPr>
          <a:xfrm>
            <a:off x="548640" y="777240"/>
            <a:ext cx="8686800" cy="822960"/>
          </a:xfrm>
          <a:prstGeom prst="rect">
            <a:avLst/>
          </a:prstGeom>
          <a:noFill/>
          <a:ln/>
        </p:spPr>
        <p:txBody>
          <a:bodyPr wrap="square" rtlCol="0" anchor="ctr"/>
          <a:lstStyle/>
          <a:p>
            <a:pPr indent="0" marL="0">
              <a:buNone/>
            </a:pPr>
            <a:r>
              <a:rPr lang="en-US" sz="3400" b="1" dirty="0">
                <a:solidFill>
                  <a:srgbClr val="232C5E"/>
                </a:solidFill>
                <a:latin typeface="Bookman Old Style" pitchFamily="34" charset="0"/>
                <a:ea typeface="Bookman Old Style" pitchFamily="34" charset="-122"/>
                <a:cs typeface="Bookman Old Style" pitchFamily="34" charset="-120"/>
              </a:rPr>
              <a:t>Backend Role and Responsibilities</a:t>
            </a:r>
            <a:endParaRPr lang="en-US" sz="3400" dirty="0"/>
          </a:p>
        </p:txBody>
      </p:sp>
      <p:sp>
        <p:nvSpPr>
          <p:cNvPr id="4" name="Shape 2"/>
          <p:cNvSpPr/>
          <p:nvPr/>
        </p:nvSpPr>
        <p:spPr>
          <a:xfrm>
            <a:off x="548640" y="1874520"/>
            <a:ext cx="502920" cy="502920"/>
          </a:xfrm>
          <a:prstGeom prst="ellipse">
            <a:avLst/>
          </a:prstGeom>
          <a:solidFill>
            <a:srgbClr val="232C5E"/>
          </a:solidFill>
          <a:ln/>
        </p:spPr>
      </p:sp>
      <p:sp>
        <p:nvSpPr>
          <p:cNvPr id="5" name="Text 3"/>
          <p:cNvSpPr/>
          <p:nvPr/>
        </p:nvSpPr>
        <p:spPr>
          <a:xfrm>
            <a:off x="548640" y="187452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34440" y="1847088"/>
            <a:ext cx="4206240" cy="548640"/>
          </a:xfrm>
          <a:prstGeom prst="rect">
            <a:avLst/>
          </a:prstGeom>
          <a:noFill/>
          <a:ln/>
        </p:spPr>
        <p:txBody>
          <a:bodyPr wrap="square" rtlCol="0" anchor="ctr"/>
          <a:lstStyle/>
          <a:p>
            <a:pPr indent="0" marL="0">
              <a:buNone/>
            </a:pPr>
            <a:r>
              <a:rPr lang="en-US" sz="1500" b="1" dirty="0">
                <a:solidFill>
                  <a:srgbClr val="2B2B33"/>
                </a:solidFill>
                <a:latin typeface="Calibri" pitchFamily="34" charset="0"/>
                <a:ea typeface="Calibri" pitchFamily="34" charset="-122"/>
                <a:cs typeface="Calibri" pitchFamily="34" charset="-120"/>
              </a:rPr>
              <a:t>Designing API contracts</a:t>
            </a:r>
            <a:endParaRPr lang="en-US" sz="1500" dirty="0"/>
          </a:p>
        </p:txBody>
      </p:sp>
      <p:sp>
        <p:nvSpPr>
          <p:cNvPr id="7" name="Shape 5"/>
          <p:cNvSpPr/>
          <p:nvPr/>
        </p:nvSpPr>
        <p:spPr>
          <a:xfrm>
            <a:off x="548640" y="2587752"/>
            <a:ext cx="502920" cy="502920"/>
          </a:xfrm>
          <a:prstGeom prst="ellipse">
            <a:avLst/>
          </a:prstGeom>
          <a:solidFill>
            <a:srgbClr val="232C5E"/>
          </a:solidFill>
          <a:ln/>
        </p:spPr>
      </p:sp>
      <p:sp>
        <p:nvSpPr>
          <p:cNvPr id="8" name="Text 6"/>
          <p:cNvSpPr/>
          <p:nvPr/>
        </p:nvSpPr>
        <p:spPr>
          <a:xfrm>
            <a:off x="548640" y="2587752"/>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234440" y="2560320"/>
            <a:ext cx="4206240" cy="548640"/>
          </a:xfrm>
          <a:prstGeom prst="rect">
            <a:avLst/>
          </a:prstGeom>
          <a:noFill/>
          <a:ln/>
        </p:spPr>
        <p:txBody>
          <a:bodyPr wrap="square" rtlCol="0" anchor="ctr"/>
          <a:lstStyle/>
          <a:p>
            <a:pPr indent="0" marL="0">
              <a:buNone/>
            </a:pPr>
            <a:r>
              <a:rPr lang="en-US" sz="1500" b="1" dirty="0">
                <a:solidFill>
                  <a:srgbClr val="2B2B33"/>
                </a:solidFill>
                <a:latin typeface="Calibri" pitchFamily="34" charset="0"/>
                <a:ea typeface="Calibri" pitchFamily="34" charset="-122"/>
                <a:cs typeface="Calibri" pitchFamily="34" charset="-120"/>
              </a:rPr>
              <a:t>Implementing endpoints using FastAPI</a:t>
            </a:r>
            <a:endParaRPr lang="en-US" sz="1500" dirty="0"/>
          </a:p>
        </p:txBody>
      </p:sp>
      <p:sp>
        <p:nvSpPr>
          <p:cNvPr id="10" name="Shape 8"/>
          <p:cNvSpPr/>
          <p:nvPr/>
        </p:nvSpPr>
        <p:spPr>
          <a:xfrm>
            <a:off x="548640" y="3300984"/>
            <a:ext cx="502920" cy="502920"/>
          </a:xfrm>
          <a:prstGeom prst="ellipse">
            <a:avLst/>
          </a:prstGeom>
          <a:solidFill>
            <a:srgbClr val="232C5E"/>
          </a:solidFill>
          <a:ln/>
        </p:spPr>
      </p:sp>
      <p:sp>
        <p:nvSpPr>
          <p:cNvPr id="11" name="Text 9"/>
          <p:cNvSpPr/>
          <p:nvPr/>
        </p:nvSpPr>
        <p:spPr>
          <a:xfrm>
            <a:off x="548640" y="3300984"/>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234440" y="3273552"/>
            <a:ext cx="4206240" cy="548640"/>
          </a:xfrm>
          <a:prstGeom prst="rect">
            <a:avLst/>
          </a:prstGeom>
          <a:noFill/>
          <a:ln/>
        </p:spPr>
        <p:txBody>
          <a:bodyPr wrap="square" rtlCol="0" anchor="ctr"/>
          <a:lstStyle/>
          <a:p>
            <a:pPr indent="0" marL="0">
              <a:buNone/>
            </a:pPr>
            <a:r>
              <a:rPr lang="en-US" sz="1500" b="1" dirty="0">
                <a:solidFill>
                  <a:srgbClr val="2B2B33"/>
                </a:solidFill>
                <a:latin typeface="Calibri" pitchFamily="34" charset="0"/>
                <a:ea typeface="Calibri" pitchFamily="34" charset="-122"/>
                <a:cs typeface="Calibri" pitchFamily="34" charset="-120"/>
              </a:rPr>
              <a:t>Managing database connections</a:t>
            </a:r>
            <a:endParaRPr lang="en-US" sz="1500" dirty="0"/>
          </a:p>
        </p:txBody>
      </p:sp>
      <p:sp>
        <p:nvSpPr>
          <p:cNvPr id="13" name="Shape 11"/>
          <p:cNvSpPr/>
          <p:nvPr/>
        </p:nvSpPr>
        <p:spPr>
          <a:xfrm>
            <a:off x="548640" y="4014216"/>
            <a:ext cx="502920" cy="502920"/>
          </a:xfrm>
          <a:prstGeom prst="ellipse">
            <a:avLst/>
          </a:prstGeom>
          <a:solidFill>
            <a:srgbClr val="232C5E"/>
          </a:solidFill>
          <a:ln/>
        </p:spPr>
      </p:sp>
      <p:sp>
        <p:nvSpPr>
          <p:cNvPr id="14" name="Text 12"/>
          <p:cNvSpPr/>
          <p:nvPr/>
        </p:nvSpPr>
        <p:spPr>
          <a:xfrm>
            <a:off x="548640" y="4014216"/>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p:nvPr/>
        </p:nvSpPr>
        <p:spPr>
          <a:xfrm>
            <a:off x="1234440" y="3986784"/>
            <a:ext cx="4206240" cy="548640"/>
          </a:xfrm>
          <a:prstGeom prst="rect">
            <a:avLst/>
          </a:prstGeom>
          <a:noFill/>
          <a:ln/>
        </p:spPr>
        <p:txBody>
          <a:bodyPr wrap="square" rtlCol="0" anchor="ctr"/>
          <a:lstStyle/>
          <a:p>
            <a:pPr indent="0" marL="0">
              <a:buNone/>
            </a:pPr>
            <a:r>
              <a:rPr lang="en-US" sz="1500" b="1" dirty="0">
                <a:solidFill>
                  <a:srgbClr val="2B2B33"/>
                </a:solidFill>
                <a:latin typeface="Calibri" pitchFamily="34" charset="0"/>
                <a:ea typeface="Calibri" pitchFamily="34" charset="-122"/>
                <a:cs typeface="Calibri" pitchFamily="34" charset="-120"/>
              </a:rPr>
              <a:t>Ensuring data consistency</a:t>
            </a:r>
            <a:endParaRPr lang="en-US" sz="1500" dirty="0"/>
          </a:p>
        </p:txBody>
      </p:sp>
      <p:sp>
        <p:nvSpPr>
          <p:cNvPr id="16" name="Shape 14"/>
          <p:cNvSpPr/>
          <p:nvPr/>
        </p:nvSpPr>
        <p:spPr>
          <a:xfrm>
            <a:off x="5760720" y="1783080"/>
            <a:ext cx="5852160" cy="3063240"/>
          </a:xfrm>
          <a:prstGeom prst="roundRect">
            <a:avLst>
              <a:gd name="adj" fmla="val 3582"/>
            </a:avLst>
          </a:prstGeom>
          <a:solidFill>
            <a:srgbClr val="232C5E"/>
          </a:solidFill>
          <a:ln/>
        </p:spPr>
      </p:sp>
      <p:sp>
        <p:nvSpPr>
          <p:cNvPr id="17" name="Text 15"/>
          <p:cNvSpPr/>
          <p:nvPr/>
        </p:nvSpPr>
        <p:spPr>
          <a:xfrm>
            <a:off x="6126480" y="2103120"/>
            <a:ext cx="5120640" cy="2468880"/>
          </a:xfrm>
          <a:prstGeom prst="rect">
            <a:avLst/>
          </a:prstGeom>
          <a:noFill/>
          <a:ln/>
        </p:spPr>
        <p:txBody>
          <a:bodyPr wrap="square" rtlCol="0" anchor="t"/>
          <a:lstStyle/>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As a backend developer, my role included designing API contracts, implementing endpoints using FastAPI, managing database connections, and ensuring data consistency. I also handled debugging errors and ensured that the APIs were properly tested and functional.</a:t>
            </a:r>
            <a:endParaRPr lang="en-US" sz="1500" dirty="0"/>
          </a:p>
        </p:txBody>
      </p:sp>
      <p:sp>
        <p:nvSpPr>
          <p:cNvPr id="18" name="Text 16"/>
          <p:cNvSpPr/>
          <p:nvPr/>
        </p:nvSpPr>
        <p:spPr>
          <a:xfrm>
            <a:off x="11368735" y="6355080"/>
            <a:ext cx="548640" cy="320040"/>
          </a:xfrm>
          <a:prstGeom prst="rect">
            <a:avLst/>
          </a:prstGeom>
          <a:noFill/>
          <a:ln/>
        </p:spPr>
        <p:txBody>
          <a:bodyPr wrap="square" rtlCol="0" anchor="ctr"/>
          <a:lstStyle/>
          <a:p>
            <a:pPr algn="r" indent="0" marL="0">
              <a:buNone/>
            </a:pPr>
            <a:r>
              <a:rPr lang="en-US" sz="1000" dirty="0">
                <a:solidFill>
                  <a:srgbClr val="6E718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SECTION 4</a:t>
            </a:r>
            <a:endParaRPr lang="en-US" sz="1200" dirty="0"/>
          </a:p>
        </p:txBody>
      </p:sp>
      <p:sp>
        <p:nvSpPr>
          <p:cNvPr id="3" name="Text 1"/>
          <p:cNvSpPr/>
          <p:nvPr/>
        </p:nvSpPr>
        <p:spPr>
          <a:xfrm>
            <a:off x="548640" y="777240"/>
            <a:ext cx="8686800" cy="822960"/>
          </a:xfrm>
          <a:prstGeom prst="rect">
            <a:avLst/>
          </a:prstGeom>
          <a:noFill/>
          <a:ln/>
        </p:spPr>
        <p:txBody>
          <a:bodyPr wrap="square" rtlCol="0" anchor="ctr"/>
          <a:lstStyle/>
          <a:p>
            <a:pPr indent="0" marL="0">
              <a:buNone/>
            </a:pPr>
            <a:r>
              <a:rPr lang="en-US" sz="3400" b="1" dirty="0">
                <a:solidFill>
                  <a:srgbClr val="232C5E"/>
                </a:solidFill>
                <a:latin typeface="Bookman Old Style" pitchFamily="34" charset="0"/>
                <a:ea typeface="Bookman Old Style" pitchFamily="34" charset="-122"/>
                <a:cs typeface="Bookman Old Style" pitchFamily="34" charset="-120"/>
              </a:rPr>
              <a:t>Tech Stack Finalization</a:t>
            </a:r>
            <a:endParaRPr lang="en-US" sz="3400" dirty="0"/>
          </a:p>
        </p:txBody>
      </p:sp>
      <p:sp>
        <p:nvSpPr>
          <p:cNvPr id="4" name="Text 2"/>
          <p:cNvSpPr/>
          <p:nvPr/>
        </p:nvSpPr>
        <p:spPr>
          <a:xfrm>
            <a:off x="548640" y="1691640"/>
            <a:ext cx="11064240" cy="1188720"/>
          </a:xfrm>
          <a:prstGeom prst="rect">
            <a:avLst/>
          </a:prstGeom>
          <a:noFill/>
          <a:ln/>
        </p:spPr>
        <p:txBody>
          <a:bodyPr wrap="square" rtlCol="0" anchor="t"/>
          <a:lstStyle/>
          <a:p>
            <a:pPr indent="0" marL="0">
              <a:lnSpc>
                <a:spcPct val="125000"/>
              </a:lnSpc>
              <a:buNone/>
            </a:pPr>
            <a:r>
              <a:rPr lang="en-US" sz="1600" dirty="0">
                <a:solidFill>
                  <a:srgbClr val="2B2B33"/>
                </a:solidFill>
                <a:latin typeface="Calibri" pitchFamily="34" charset="0"/>
                <a:ea typeface="Calibri" pitchFamily="34" charset="-122"/>
                <a:cs typeface="Calibri" pitchFamily="34" charset="-120"/>
              </a:rPr>
              <a:t>The backend stack includes FastAPI for API development and PostgreSQL for database management. This stack was chosen because it is lightweight, efficient, and suitable for rapid development.</a:t>
            </a:r>
            <a:endParaRPr lang="en-US" sz="1600" dirty="0"/>
          </a:p>
        </p:txBody>
      </p:sp>
      <p:sp>
        <p:nvSpPr>
          <p:cNvPr id="5" name="Shape 3"/>
          <p:cNvSpPr/>
          <p:nvPr/>
        </p:nvSpPr>
        <p:spPr>
          <a:xfrm>
            <a:off x="3329940" y="3246120"/>
            <a:ext cx="2606040" cy="2468880"/>
          </a:xfrm>
          <a:prstGeom prst="roundRect">
            <a:avLst>
              <a:gd name="adj" fmla="val 3704"/>
            </a:avLst>
          </a:prstGeom>
          <a:solidFill>
            <a:srgbClr val="F96167"/>
          </a:solidFill>
          <a:ln/>
          <a:effectLst>
            <a:outerShdw sx="100000" sy="100000" kx="0" ky="0" algn="bl" rotWithShape="0" blurRad="76200" dist="25400" dir="5400000">
              <a:srgbClr val="000000">
                <a:alpha val="12000"/>
              </a:srgbClr>
            </a:outerShdw>
          </a:effectLst>
        </p:spPr>
      </p:sp>
      <p:sp>
        <p:nvSpPr>
          <p:cNvPr id="6" name="Text 4"/>
          <p:cNvSpPr/>
          <p:nvPr/>
        </p:nvSpPr>
        <p:spPr>
          <a:xfrm>
            <a:off x="3512820" y="4800600"/>
            <a:ext cx="2240280" cy="457200"/>
          </a:xfrm>
          <a:prstGeom prst="rect">
            <a:avLst/>
          </a:prstGeom>
          <a:noFill/>
          <a:ln/>
        </p:spPr>
        <p:txBody>
          <a:bodyPr wrap="square" rtlCol="0" anchor="ctr"/>
          <a:lstStyle/>
          <a:p>
            <a:pPr indent="0" marL="0">
              <a:buNone/>
            </a:pPr>
            <a:r>
              <a:rPr lang="en-US" sz="1700" b="1" dirty="0">
                <a:solidFill>
                  <a:srgbClr val="FFFFFF"/>
                </a:solidFill>
                <a:latin typeface="Bookman Old Style" pitchFamily="34" charset="0"/>
                <a:ea typeface="Bookman Old Style" pitchFamily="34" charset="-122"/>
                <a:cs typeface="Bookman Old Style" pitchFamily="34" charset="-120"/>
              </a:rPr>
              <a:t>FastAPI</a:t>
            </a:r>
            <a:endParaRPr lang="en-US" sz="1700" dirty="0"/>
          </a:p>
        </p:txBody>
      </p:sp>
      <p:sp>
        <p:nvSpPr>
          <p:cNvPr id="7" name="Text 5"/>
          <p:cNvSpPr/>
          <p:nvPr/>
        </p:nvSpPr>
        <p:spPr>
          <a:xfrm>
            <a:off x="3512820" y="5212080"/>
            <a:ext cx="2240280" cy="4114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API development</a:t>
            </a:r>
            <a:endParaRPr lang="en-US" sz="1100" dirty="0"/>
          </a:p>
        </p:txBody>
      </p:sp>
      <p:sp>
        <p:nvSpPr>
          <p:cNvPr id="8" name="Shape 6"/>
          <p:cNvSpPr/>
          <p:nvPr/>
        </p:nvSpPr>
        <p:spPr>
          <a:xfrm>
            <a:off x="6256020" y="3246120"/>
            <a:ext cx="2606040" cy="2468880"/>
          </a:xfrm>
          <a:prstGeom prst="roundRect">
            <a:avLst>
              <a:gd name="adj" fmla="val 3704"/>
            </a:avLst>
          </a:prstGeom>
          <a:solidFill>
            <a:srgbClr val="2F3C7E"/>
          </a:solidFill>
          <a:ln/>
          <a:effectLst>
            <a:outerShdw sx="100000" sy="100000" kx="0" ky="0" algn="bl" rotWithShape="0" blurRad="76200" dist="25400" dir="5400000">
              <a:srgbClr val="000000">
                <a:alpha val="12000"/>
              </a:srgbClr>
            </a:outerShdw>
          </a:effectLst>
        </p:spPr>
      </p:sp>
      <p:sp>
        <p:nvSpPr>
          <p:cNvPr id="9" name="Text 7"/>
          <p:cNvSpPr/>
          <p:nvPr/>
        </p:nvSpPr>
        <p:spPr>
          <a:xfrm>
            <a:off x="6438900" y="4800600"/>
            <a:ext cx="2240280" cy="457200"/>
          </a:xfrm>
          <a:prstGeom prst="rect">
            <a:avLst/>
          </a:prstGeom>
          <a:noFill/>
          <a:ln/>
        </p:spPr>
        <p:txBody>
          <a:bodyPr wrap="square" rtlCol="0" anchor="ctr"/>
          <a:lstStyle/>
          <a:p>
            <a:pPr indent="0" marL="0">
              <a:buNone/>
            </a:pPr>
            <a:r>
              <a:rPr lang="en-US" sz="1700" b="1" dirty="0">
                <a:solidFill>
                  <a:srgbClr val="FFFFFF"/>
                </a:solidFill>
                <a:latin typeface="Bookman Old Style" pitchFamily="34" charset="0"/>
                <a:ea typeface="Bookman Old Style" pitchFamily="34" charset="-122"/>
                <a:cs typeface="Bookman Old Style" pitchFamily="34" charset="-120"/>
              </a:rPr>
              <a:t>PostgreSQL</a:t>
            </a:r>
            <a:endParaRPr lang="en-US" sz="1700" dirty="0"/>
          </a:p>
        </p:txBody>
      </p:sp>
      <p:sp>
        <p:nvSpPr>
          <p:cNvPr id="10" name="Text 8"/>
          <p:cNvSpPr/>
          <p:nvPr/>
        </p:nvSpPr>
        <p:spPr>
          <a:xfrm>
            <a:off x="6438900" y="5212080"/>
            <a:ext cx="2240280" cy="4114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Database management</a:t>
            </a:r>
            <a:endParaRPr lang="en-US" sz="1100" dirty="0"/>
          </a:p>
        </p:txBody>
      </p:sp>
      <p:sp>
        <p:nvSpPr>
          <p:cNvPr id="17" name="Text 15"/>
          <p:cNvSpPr/>
          <p:nvPr/>
        </p:nvSpPr>
        <p:spPr>
          <a:xfrm>
            <a:off x="11368735" y="6355080"/>
            <a:ext cx="548640" cy="320040"/>
          </a:xfrm>
          <a:prstGeom prst="rect">
            <a:avLst/>
          </a:prstGeom>
          <a:noFill/>
          <a:ln/>
        </p:spPr>
        <p:txBody>
          <a:bodyPr wrap="square" rtlCol="0" anchor="ctr"/>
          <a:lstStyle/>
          <a:p>
            <a:pPr algn="r" indent="0" marL="0">
              <a:buNone/>
            </a:pPr>
            <a:r>
              <a:rPr lang="en-US" sz="1000" dirty="0">
                <a:solidFill>
                  <a:srgbClr val="6E718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SECTION 5</a:t>
            </a:r>
            <a:endParaRPr lang="en-US" sz="1200" dirty="0"/>
          </a:p>
        </p:txBody>
      </p:sp>
      <p:sp>
        <p:nvSpPr>
          <p:cNvPr id="3" name="Text 1"/>
          <p:cNvSpPr/>
          <p:nvPr/>
        </p:nvSpPr>
        <p:spPr>
          <a:xfrm>
            <a:off x="548640" y="777240"/>
            <a:ext cx="8686800" cy="822960"/>
          </a:xfrm>
          <a:prstGeom prst="rect">
            <a:avLst/>
          </a:prstGeom>
          <a:noFill/>
          <a:ln/>
        </p:spPr>
        <p:txBody>
          <a:bodyPr wrap="square" rtlCol="0" anchor="ctr"/>
          <a:lstStyle/>
          <a:p>
            <a:pPr indent="0" marL="0">
              <a:buNone/>
            </a:pPr>
            <a:r>
              <a:rPr lang="en-US" sz="3400" b="1" dirty="0">
                <a:solidFill>
                  <a:srgbClr val="232C5E"/>
                </a:solidFill>
                <a:latin typeface="Bookman Old Style" pitchFamily="34" charset="0"/>
                <a:ea typeface="Bookman Old Style" pitchFamily="34" charset="-122"/>
                <a:cs typeface="Bookman Old Style" pitchFamily="34" charset="-120"/>
              </a:rPr>
              <a:t>Database Design</a:t>
            </a:r>
            <a:endParaRPr lang="en-US" sz="3400" dirty="0"/>
          </a:p>
        </p:txBody>
      </p:sp>
      <p:sp>
        <p:nvSpPr>
          <p:cNvPr id="4" name="Text 2"/>
          <p:cNvSpPr/>
          <p:nvPr/>
        </p:nvSpPr>
        <p:spPr>
          <a:xfrm>
            <a:off x="548640" y="1691640"/>
            <a:ext cx="11064240" cy="1188720"/>
          </a:xfrm>
          <a:prstGeom prst="rect">
            <a:avLst/>
          </a:prstGeom>
          <a:noFill/>
          <a:ln/>
        </p:spPr>
        <p:txBody>
          <a:bodyPr wrap="square" rtlCol="0" anchor="t"/>
          <a:lstStyle/>
          <a:p>
            <a:pPr indent="0" marL="0">
              <a:lnSpc>
                <a:spcPct val="125000"/>
              </a:lnSpc>
              <a:buNone/>
            </a:pPr>
            <a:r>
              <a:rPr lang="en-US" sz="1600" dirty="0">
                <a:solidFill>
                  <a:srgbClr val="2B2B33"/>
                </a:solidFill>
                <a:latin typeface="Calibri" pitchFamily="34" charset="0"/>
                <a:ea typeface="Calibri" pitchFamily="34" charset="-122"/>
                <a:cs typeface="Calibri" pitchFamily="34" charset="-120"/>
              </a:rPr>
              <a:t>The database schema includes a Prospect model with attributes such as name, company, email, phone, and status. These fields allow storing all necessary customer details and tracking their lifecycle within the sales process.</a:t>
            </a:r>
            <a:endParaRPr lang="en-US" sz="1600" dirty="0"/>
          </a:p>
        </p:txBody>
      </p:sp>
      <p:sp>
        <p:nvSpPr>
          <p:cNvPr id="5" name="Shape 3"/>
          <p:cNvSpPr/>
          <p:nvPr/>
        </p:nvSpPr>
        <p:spPr>
          <a:xfrm>
            <a:off x="548640" y="3154680"/>
            <a:ext cx="11064240" cy="2743200"/>
          </a:xfrm>
          <a:prstGeom prst="roundRect">
            <a:avLst>
              <a:gd name="adj" fmla="val 4000"/>
            </a:avLst>
          </a:prstGeom>
          <a:solidFill>
            <a:srgbClr val="FFF7F3"/>
          </a:solidFill>
          <a:ln/>
          <a:effectLst>
            <a:outerShdw sx="100000" sy="100000" kx="0" ky="0" algn="bl" rotWithShape="0" blurRad="76200" dist="25400" dir="5400000">
              <a:srgbClr val="000000">
                <a:alpha val="10000"/>
              </a:srgbClr>
            </a:outerShdw>
          </a:effectLst>
        </p:spPr>
      </p:sp>
      <p:sp>
        <p:nvSpPr>
          <p:cNvPr id="6" name="Text 4"/>
          <p:cNvSpPr/>
          <p:nvPr/>
        </p:nvSpPr>
        <p:spPr>
          <a:xfrm>
            <a:off x="914400" y="3383280"/>
            <a:ext cx="4572000" cy="365760"/>
          </a:xfrm>
          <a:prstGeom prst="rect">
            <a:avLst/>
          </a:prstGeom>
          <a:noFill/>
          <a:ln/>
        </p:spPr>
        <p:txBody>
          <a:bodyPr wrap="square"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PROSPECT MODEL</a:t>
            </a:r>
            <a:endParaRPr lang="en-US" sz="1200" dirty="0"/>
          </a:p>
        </p:txBody>
      </p:sp>
      <p:sp>
        <p:nvSpPr>
          <p:cNvPr id="7" name="Shape 5"/>
          <p:cNvSpPr/>
          <p:nvPr/>
        </p:nvSpPr>
        <p:spPr>
          <a:xfrm>
            <a:off x="914400" y="3977640"/>
            <a:ext cx="1920240" cy="1463040"/>
          </a:xfrm>
          <a:prstGeom prst="roundRect">
            <a:avLst>
              <a:gd name="adj" fmla="val 5000"/>
            </a:avLst>
          </a:prstGeom>
          <a:solidFill>
            <a:srgbClr val="2F3C7E"/>
          </a:solidFill>
          <a:ln/>
        </p:spPr>
      </p:sp>
      <p:sp>
        <p:nvSpPr>
          <p:cNvPr id="8" name="Text 6"/>
          <p:cNvSpPr/>
          <p:nvPr/>
        </p:nvSpPr>
        <p:spPr>
          <a:xfrm>
            <a:off x="914400" y="3977640"/>
            <a:ext cx="1920240" cy="1463040"/>
          </a:xfrm>
          <a:prstGeom prst="rect">
            <a:avLst/>
          </a:prstGeom>
          <a:noFill/>
          <a:ln/>
        </p:spPr>
        <p:txBody>
          <a:bodyPr wrap="square"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name</a:t>
            </a:r>
            <a:endParaRPr lang="en-US" sz="1500" dirty="0"/>
          </a:p>
        </p:txBody>
      </p:sp>
      <p:sp>
        <p:nvSpPr>
          <p:cNvPr id="9" name="Shape 7"/>
          <p:cNvSpPr/>
          <p:nvPr/>
        </p:nvSpPr>
        <p:spPr>
          <a:xfrm>
            <a:off x="3017520" y="3977640"/>
            <a:ext cx="1920240" cy="1463040"/>
          </a:xfrm>
          <a:prstGeom prst="roundRect">
            <a:avLst>
              <a:gd name="adj" fmla="val 5000"/>
            </a:avLst>
          </a:prstGeom>
          <a:solidFill>
            <a:srgbClr val="F96167"/>
          </a:solidFill>
          <a:ln/>
        </p:spPr>
      </p:sp>
      <p:sp>
        <p:nvSpPr>
          <p:cNvPr id="10" name="Text 8"/>
          <p:cNvSpPr/>
          <p:nvPr/>
        </p:nvSpPr>
        <p:spPr>
          <a:xfrm>
            <a:off x="3017520" y="3977640"/>
            <a:ext cx="1920240" cy="1463040"/>
          </a:xfrm>
          <a:prstGeom prst="rect">
            <a:avLst/>
          </a:prstGeom>
          <a:noFill/>
          <a:ln/>
        </p:spPr>
        <p:txBody>
          <a:bodyPr wrap="square"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company</a:t>
            </a:r>
            <a:endParaRPr lang="en-US" sz="1500" dirty="0"/>
          </a:p>
        </p:txBody>
      </p:sp>
      <p:sp>
        <p:nvSpPr>
          <p:cNvPr id="11" name="Shape 9"/>
          <p:cNvSpPr/>
          <p:nvPr/>
        </p:nvSpPr>
        <p:spPr>
          <a:xfrm>
            <a:off x="5120640" y="3977640"/>
            <a:ext cx="1920240" cy="1463040"/>
          </a:xfrm>
          <a:prstGeom prst="roundRect">
            <a:avLst>
              <a:gd name="adj" fmla="val 5000"/>
            </a:avLst>
          </a:prstGeom>
          <a:solidFill>
            <a:srgbClr val="E8A33D"/>
          </a:solidFill>
          <a:ln/>
        </p:spPr>
      </p:sp>
      <p:sp>
        <p:nvSpPr>
          <p:cNvPr id="12" name="Text 10"/>
          <p:cNvSpPr/>
          <p:nvPr/>
        </p:nvSpPr>
        <p:spPr>
          <a:xfrm>
            <a:off x="5120640" y="3977640"/>
            <a:ext cx="1920240" cy="1463040"/>
          </a:xfrm>
          <a:prstGeom prst="rect">
            <a:avLst/>
          </a:prstGeom>
          <a:noFill/>
          <a:ln/>
        </p:spPr>
        <p:txBody>
          <a:bodyPr wrap="square"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email</a:t>
            </a:r>
            <a:endParaRPr lang="en-US" sz="1500" dirty="0"/>
          </a:p>
        </p:txBody>
      </p:sp>
      <p:sp>
        <p:nvSpPr>
          <p:cNvPr id="13" name="Shape 11"/>
          <p:cNvSpPr/>
          <p:nvPr/>
        </p:nvSpPr>
        <p:spPr>
          <a:xfrm>
            <a:off x="7223760" y="3977640"/>
            <a:ext cx="1920240" cy="1463040"/>
          </a:xfrm>
          <a:prstGeom prst="roundRect">
            <a:avLst>
              <a:gd name="adj" fmla="val 5000"/>
            </a:avLst>
          </a:prstGeom>
          <a:solidFill>
            <a:srgbClr val="8A8FBF"/>
          </a:solidFill>
          <a:ln/>
        </p:spPr>
      </p:sp>
      <p:sp>
        <p:nvSpPr>
          <p:cNvPr id="14" name="Text 12"/>
          <p:cNvSpPr/>
          <p:nvPr/>
        </p:nvSpPr>
        <p:spPr>
          <a:xfrm>
            <a:off x="7223760" y="3977640"/>
            <a:ext cx="1920240" cy="1463040"/>
          </a:xfrm>
          <a:prstGeom prst="rect">
            <a:avLst/>
          </a:prstGeom>
          <a:noFill/>
          <a:ln/>
        </p:spPr>
        <p:txBody>
          <a:bodyPr wrap="square"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phone</a:t>
            </a:r>
            <a:endParaRPr lang="en-US" sz="1500" dirty="0"/>
          </a:p>
        </p:txBody>
      </p:sp>
      <p:sp>
        <p:nvSpPr>
          <p:cNvPr id="15" name="Shape 13"/>
          <p:cNvSpPr/>
          <p:nvPr/>
        </p:nvSpPr>
        <p:spPr>
          <a:xfrm>
            <a:off x="9326880" y="3977640"/>
            <a:ext cx="1920240" cy="1463040"/>
          </a:xfrm>
          <a:prstGeom prst="roundRect">
            <a:avLst>
              <a:gd name="adj" fmla="val 5000"/>
            </a:avLst>
          </a:prstGeom>
          <a:solidFill>
            <a:srgbClr val="232C5E"/>
          </a:solidFill>
          <a:ln/>
        </p:spPr>
      </p:sp>
      <p:sp>
        <p:nvSpPr>
          <p:cNvPr id="16" name="Text 14"/>
          <p:cNvSpPr/>
          <p:nvPr/>
        </p:nvSpPr>
        <p:spPr>
          <a:xfrm>
            <a:off x="9326880" y="3977640"/>
            <a:ext cx="1920240" cy="1463040"/>
          </a:xfrm>
          <a:prstGeom prst="rect">
            <a:avLst/>
          </a:prstGeom>
          <a:noFill/>
          <a:ln/>
        </p:spPr>
        <p:txBody>
          <a:bodyPr wrap="square"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status</a:t>
            </a:r>
            <a:endParaRPr lang="en-US" sz="1500" dirty="0"/>
          </a:p>
        </p:txBody>
      </p:sp>
      <p:sp>
        <p:nvSpPr>
          <p:cNvPr id="17" name="Text 15"/>
          <p:cNvSpPr/>
          <p:nvPr/>
        </p:nvSpPr>
        <p:spPr>
          <a:xfrm>
            <a:off x="11368735" y="6355080"/>
            <a:ext cx="548640" cy="320040"/>
          </a:xfrm>
          <a:prstGeom prst="rect">
            <a:avLst/>
          </a:prstGeom>
          <a:noFill/>
          <a:ln/>
        </p:spPr>
        <p:txBody>
          <a:bodyPr wrap="square" rtlCol="0" anchor="ctr"/>
          <a:lstStyle/>
          <a:p>
            <a:pPr algn="r" indent="0" marL="0">
              <a:buNone/>
            </a:pPr>
            <a:r>
              <a:rPr lang="en-US" sz="1000" dirty="0">
                <a:solidFill>
                  <a:srgbClr val="6E718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SECTION 6</a:t>
            </a:r>
            <a:endParaRPr lang="en-US" sz="1200" dirty="0"/>
          </a:p>
        </p:txBody>
      </p:sp>
      <p:sp>
        <p:nvSpPr>
          <p:cNvPr id="3" name="Text 1"/>
          <p:cNvSpPr/>
          <p:nvPr/>
        </p:nvSpPr>
        <p:spPr>
          <a:xfrm>
            <a:off x="548640" y="777240"/>
            <a:ext cx="8686800" cy="822960"/>
          </a:xfrm>
          <a:prstGeom prst="rect">
            <a:avLst/>
          </a:prstGeom>
          <a:noFill/>
          <a:ln/>
        </p:spPr>
        <p:txBody>
          <a:bodyPr wrap="square" rtlCol="0" anchor="ctr"/>
          <a:lstStyle/>
          <a:p>
            <a:pPr indent="0" marL="0">
              <a:buNone/>
            </a:pPr>
            <a:r>
              <a:rPr lang="en-US" sz="3400" b="1" dirty="0">
                <a:solidFill>
                  <a:srgbClr val="232C5E"/>
                </a:solidFill>
                <a:latin typeface="Bookman Old Style" pitchFamily="34" charset="0"/>
                <a:ea typeface="Bookman Old Style" pitchFamily="34" charset="-122"/>
                <a:cs typeface="Bookman Old Style" pitchFamily="34" charset="-120"/>
              </a:rPr>
              <a:t>CRUD API Implementation</a:t>
            </a:r>
            <a:endParaRPr lang="en-US" sz="3400" dirty="0"/>
          </a:p>
        </p:txBody>
      </p:sp>
      <p:sp>
        <p:nvSpPr>
          <p:cNvPr id="4" name="Text 2"/>
          <p:cNvSpPr/>
          <p:nvPr/>
        </p:nvSpPr>
        <p:spPr>
          <a:xfrm>
            <a:off x="548640" y="1691640"/>
            <a:ext cx="11064240" cy="1188720"/>
          </a:xfrm>
          <a:prstGeom prst="rect">
            <a:avLst/>
          </a:prstGeom>
          <a:noFill/>
          <a:ln/>
        </p:spPr>
        <p:txBody>
          <a:bodyPr wrap="square" rtlCol="0" anchor="t"/>
          <a:lstStyle/>
          <a:p>
            <a:pPr indent="0" marL="0">
              <a:lnSpc>
                <a:spcPct val="125000"/>
              </a:lnSpc>
              <a:buNone/>
            </a:pPr>
            <a:r>
              <a:rPr lang="en-US" sz="1600" dirty="0">
                <a:solidFill>
                  <a:srgbClr val="2B2B33"/>
                </a:solidFill>
                <a:latin typeface="Calibri" pitchFamily="34" charset="0"/>
                <a:ea typeface="Calibri" pitchFamily="34" charset="-122"/>
                <a:cs typeface="Calibri" pitchFamily="34" charset="-120"/>
              </a:rPr>
              <a:t>CRUD operations include Create (POST /leads), Read (GET /leads), Update (PUT /leads/{id}), and Delete (DELETE /leads/{id}). Each API endpoint was designed to handle specific operations and return structured JSON responses.</a:t>
            </a:r>
            <a:endParaRPr lang="en-US" sz="1600" dirty="0"/>
          </a:p>
        </p:txBody>
      </p:sp>
      <p:sp>
        <p:nvSpPr>
          <p:cNvPr id="5" name="Shape 3"/>
          <p:cNvSpPr/>
          <p:nvPr/>
        </p:nvSpPr>
        <p:spPr>
          <a:xfrm>
            <a:off x="548640" y="3246120"/>
            <a:ext cx="2606040" cy="1828800"/>
          </a:xfrm>
          <a:prstGeom prst="roundRect">
            <a:avLst>
              <a:gd name="adj" fmla="val 5000"/>
            </a:avLst>
          </a:prstGeom>
          <a:solidFill>
            <a:srgbClr val="FFF7F3"/>
          </a:solidFill>
          <a:ln w="19050">
            <a:solidFill>
              <a:srgbClr val="F96167"/>
            </a:solidFill>
            <a:prstDash val="solid"/>
          </a:ln>
          <a:effectLst>
            <a:outerShdw sx="100000" sy="100000" kx="0" ky="0" algn="bl" rotWithShape="0" blurRad="76200" dist="25400" dir="5400000">
              <a:srgbClr val="000000">
                <a:alpha val="10000"/>
              </a:srgbClr>
            </a:outerShdw>
          </a:effectLst>
        </p:spPr>
      </p:sp>
      <p:sp>
        <p:nvSpPr>
          <p:cNvPr id="6" name="Shape 4"/>
          <p:cNvSpPr/>
          <p:nvPr/>
        </p:nvSpPr>
        <p:spPr>
          <a:xfrm>
            <a:off x="777240" y="3474720"/>
            <a:ext cx="2148840" cy="457200"/>
          </a:xfrm>
          <a:prstGeom prst="roundRect">
            <a:avLst>
              <a:gd name="adj" fmla="val 12000"/>
            </a:avLst>
          </a:prstGeom>
          <a:solidFill>
            <a:srgbClr val="F96167"/>
          </a:solidFill>
          <a:ln/>
        </p:spPr>
      </p:sp>
      <p:sp>
        <p:nvSpPr>
          <p:cNvPr id="7" name="Text 5"/>
          <p:cNvSpPr/>
          <p:nvPr/>
        </p:nvSpPr>
        <p:spPr>
          <a:xfrm>
            <a:off x="777240" y="3474720"/>
            <a:ext cx="214884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POST</a:t>
            </a:r>
            <a:endParaRPr lang="en-US" sz="1300" dirty="0"/>
          </a:p>
        </p:txBody>
      </p:sp>
      <p:sp>
        <p:nvSpPr>
          <p:cNvPr id="8" name="Text 6"/>
          <p:cNvSpPr/>
          <p:nvPr/>
        </p:nvSpPr>
        <p:spPr>
          <a:xfrm>
            <a:off x="731520" y="4160520"/>
            <a:ext cx="2240280" cy="640080"/>
          </a:xfrm>
          <a:prstGeom prst="rect">
            <a:avLst/>
          </a:prstGeom>
          <a:noFill/>
          <a:ln/>
        </p:spPr>
        <p:txBody>
          <a:bodyPr wrap="square" rtlCol="0" anchor="ctr"/>
          <a:lstStyle/>
          <a:p>
            <a:pPr algn="ctr" indent="0" marL="0">
              <a:buNone/>
            </a:pPr>
            <a:r>
              <a:rPr lang="en-US" sz="1400" dirty="0">
                <a:solidFill>
                  <a:srgbClr val="232C5E"/>
                </a:solidFill>
                <a:latin typeface="Courier New" pitchFamily="34" charset="0"/>
                <a:ea typeface="Courier New" pitchFamily="34" charset="-122"/>
                <a:cs typeface="Courier New" pitchFamily="34" charset="-120"/>
              </a:rPr>
              <a:t>/leads</a:t>
            </a:r>
            <a:endParaRPr lang="en-US" sz="1400" dirty="0"/>
          </a:p>
        </p:txBody>
      </p:sp>
      <p:sp>
        <p:nvSpPr>
          <p:cNvPr id="9" name="Shape 7"/>
          <p:cNvSpPr/>
          <p:nvPr/>
        </p:nvSpPr>
        <p:spPr>
          <a:xfrm>
            <a:off x="3474720" y="3246120"/>
            <a:ext cx="2606040" cy="1828800"/>
          </a:xfrm>
          <a:prstGeom prst="roundRect">
            <a:avLst>
              <a:gd name="adj" fmla="val 5000"/>
            </a:avLst>
          </a:prstGeom>
          <a:solidFill>
            <a:srgbClr val="FFF7F3"/>
          </a:solidFill>
          <a:ln w="19050">
            <a:solidFill>
              <a:srgbClr val="2F3C7E"/>
            </a:solidFill>
            <a:prstDash val="solid"/>
          </a:ln>
          <a:effectLst>
            <a:outerShdw sx="100000" sy="100000" kx="0" ky="0" algn="bl" rotWithShape="0" blurRad="76200" dist="25400" dir="5400000">
              <a:srgbClr val="000000">
                <a:alpha val="10000"/>
              </a:srgbClr>
            </a:outerShdw>
          </a:effectLst>
        </p:spPr>
      </p:sp>
      <p:sp>
        <p:nvSpPr>
          <p:cNvPr id="10" name="Shape 8"/>
          <p:cNvSpPr/>
          <p:nvPr/>
        </p:nvSpPr>
        <p:spPr>
          <a:xfrm>
            <a:off x="3703320" y="3474720"/>
            <a:ext cx="2148840" cy="457200"/>
          </a:xfrm>
          <a:prstGeom prst="roundRect">
            <a:avLst>
              <a:gd name="adj" fmla="val 12000"/>
            </a:avLst>
          </a:prstGeom>
          <a:solidFill>
            <a:srgbClr val="2F3C7E"/>
          </a:solidFill>
          <a:ln/>
        </p:spPr>
      </p:sp>
      <p:sp>
        <p:nvSpPr>
          <p:cNvPr id="11" name="Text 9"/>
          <p:cNvSpPr/>
          <p:nvPr/>
        </p:nvSpPr>
        <p:spPr>
          <a:xfrm>
            <a:off x="3703320" y="3474720"/>
            <a:ext cx="214884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GET</a:t>
            </a:r>
            <a:endParaRPr lang="en-US" sz="1300" dirty="0"/>
          </a:p>
        </p:txBody>
      </p:sp>
      <p:sp>
        <p:nvSpPr>
          <p:cNvPr id="12" name="Text 10"/>
          <p:cNvSpPr/>
          <p:nvPr/>
        </p:nvSpPr>
        <p:spPr>
          <a:xfrm>
            <a:off x="3657600" y="4160520"/>
            <a:ext cx="2240280" cy="640080"/>
          </a:xfrm>
          <a:prstGeom prst="rect">
            <a:avLst/>
          </a:prstGeom>
          <a:noFill/>
          <a:ln/>
        </p:spPr>
        <p:txBody>
          <a:bodyPr wrap="square" rtlCol="0" anchor="ctr"/>
          <a:lstStyle/>
          <a:p>
            <a:pPr algn="ctr" indent="0" marL="0">
              <a:buNone/>
            </a:pPr>
            <a:r>
              <a:rPr lang="en-US" sz="1400" dirty="0">
                <a:solidFill>
                  <a:srgbClr val="232C5E"/>
                </a:solidFill>
                <a:latin typeface="Courier New" pitchFamily="34" charset="0"/>
                <a:ea typeface="Courier New" pitchFamily="34" charset="-122"/>
                <a:cs typeface="Courier New" pitchFamily="34" charset="-120"/>
              </a:rPr>
              <a:t>/leads</a:t>
            </a:r>
            <a:endParaRPr lang="en-US" sz="1400" dirty="0"/>
          </a:p>
        </p:txBody>
      </p:sp>
      <p:sp>
        <p:nvSpPr>
          <p:cNvPr id="13" name="Shape 11"/>
          <p:cNvSpPr/>
          <p:nvPr/>
        </p:nvSpPr>
        <p:spPr>
          <a:xfrm>
            <a:off x="6400800" y="3246120"/>
            <a:ext cx="2606040" cy="1828800"/>
          </a:xfrm>
          <a:prstGeom prst="roundRect">
            <a:avLst>
              <a:gd name="adj" fmla="val 5000"/>
            </a:avLst>
          </a:prstGeom>
          <a:solidFill>
            <a:srgbClr val="FFF7F3"/>
          </a:solidFill>
          <a:ln w="19050">
            <a:solidFill>
              <a:srgbClr val="E8A33D"/>
            </a:solidFill>
            <a:prstDash val="solid"/>
          </a:ln>
          <a:effectLst>
            <a:outerShdw sx="100000" sy="100000" kx="0" ky="0" algn="bl" rotWithShape="0" blurRad="76200" dist="25400" dir="5400000">
              <a:srgbClr val="000000">
                <a:alpha val="10000"/>
              </a:srgbClr>
            </a:outerShdw>
          </a:effectLst>
        </p:spPr>
      </p:sp>
      <p:sp>
        <p:nvSpPr>
          <p:cNvPr id="14" name="Shape 12"/>
          <p:cNvSpPr/>
          <p:nvPr/>
        </p:nvSpPr>
        <p:spPr>
          <a:xfrm>
            <a:off x="6629400" y="3474720"/>
            <a:ext cx="2148840" cy="457200"/>
          </a:xfrm>
          <a:prstGeom prst="roundRect">
            <a:avLst>
              <a:gd name="adj" fmla="val 12000"/>
            </a:avLst>
          </a:prstGeom>
          <a:solidFill>
            <a:srgbClr val="E8A33D"/>
          </a:solidFill>
          <a:ln/>
        </p:spPr>
      </p:sp>
      <p:sp>
        <p:nvSpPr>
          <p:cNvPr id="15" name="Text 13"/>
          <p:cNvSpPr/>
          <p:nvPr/>
        </p:nvSpPr>
        <p:spPr>
          <a:xfrm>
            <a:off x="6629400" y="3474720"/>
            <a:ext cx="214884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PUT</a:t>
            </a:r>
            <a:endParaRPr lang="en-US" sz="1300" dirty="0"/>
          </a:p>
        </p:txBody>
      </p:sp>
      <p:sp>
        <p:nvSpPr>
          <p:cNvPr id="16" name="Text 14"/>
          <p:cNvSpPr/>
          <p:nvPr/>
        </p:nvSpPr>
        <p:spPr>
          <a:xfrm>
            <a:off x="6583680" y="4160520"/>
            <a:ext cx="2240280" cy="640080"/>
          </a:xfrm>
          <a:prstGeom prst="rect">
            <a:avLst/>
          </a:prstGeom>
          <a:noFill/>
          <a:ln/>
        </p:spPr>
        <p:txBody>
          <a:bodyPr wrap="square" rtlCol="0" anchor="ctr"/>
          <a:lstStyle/>
          <a:p>
            <a:pPr algn="ctr" indent="0" marL="0">
              <a:buNone/>
            </a:pPr>
            <a:r>
              <a:rPr lang="en-US" sz="1400" dirty="0">
                <a:solidFill>
                  <a:srgbClr val="232C5E"/>
                </a:solidFill>
                <a:latin typeface="Courier New" pitchFamily="34" charset="0"/>
                <a:ea typeface="Courier New" pitchFamily="34" charset="-122"/>
                <a:cs typeface="Courier New" pitchFamily="34" charset="-120"/>
              </a:rPr>
              <a:t>/leads/{id}</a:t>
            </a:r>
            <a:endParaRPr lang="en-US" sz="1400" dirty="0"/>
          </a:p>
        </p:txBody>
      </p:sp>
      <p:sp>
        <p:nvSpPr>
          <p:cNvPr id="17" name="Shape 15"/>
          <p:cNvSpPr/>
          <p:nvPr/>
        </p:nvSpPr>
        <p:spPr>
          <a:xfrm>
            <a:off x="9326880" y="3246120"/>
            <a:ext cx="2606040" cy="1828800"/>
          </a:xfrm>
          <a:prstGeom prst="roundRect">
            <a:avLst>
              <a:gd name="adj" fmla="val 5000"/>
            </a:avLst>
          </a:prstGeom>
          <a:solidFill>
            <a:srgbClr val="FFF7F3"/>
          </a:solidFill>
          <a:ln w="19050">
            <a:solidFill>
              <a:srgbClr val="8A8FBF"/>
            </a:solidFill>
            <a:prstDash val="solid"/>
          </a:ln>
          <a:effectLst>
            <a:outerShdw sx="100000" sy="100000" kx="0" ky="0" algn="bl" rotWithShape="0" blurRad="76200" dist="25400" dir="5400000">
              <a:srgbClr val="000000">
                <a:alpha val="10000"/>
              </a:srgbClr>
            </a:outerShdw>
          </a:effectLst>
        </p:spPr>
      </p:sp>
      <p:sp>
        <p:nvSpPr>
          <p:cNvPr id="18" name="Shape 16"/>
          <p:cNvSpPr/>
          <p:nvPr/>
        </p:nvSpPr>
        <p:spPr>
          <a:xfrm>
            <a:off x="9555480" y="3474720"/>
            <a:ext cx="2148840" cy="457200"/>
          </a:xfrm>
          <a:prstGeom prst="roundRect">
            <a:avLst>
              <a:gd name="adj" fmla="val 12000"/>
            </a:avLst>
          </a:prstGeom>
          <a:solidFill>
            <a:srgbClr val="8A8FBF"/>
          </a:solidFill>
          <a:ln/>
        </p:spPr>
      </p:sp>
      <p:sp>
        <p:nvSpPr>
          <p:cNvPr id="19" name="Text 17"/>
          <p:cNvSpPr/>
          <p:nvPr/>
        </p:nvSpPr>
        <p:spPr>
          <a:xfrm>
            <a:off x="9555480" y="3474720"/>
            <a:ext cx="214884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DELETE</a:t>
            </a:r>
            <a:endParaRPr lang="en-US" sz="1300" dirty="0"/>
          </a:p>
        </p:txBody>
      </p:sp>
      <p:sp>
        <p:nvSpPr>
          <p:cNvPr id="20" name="Text 18"/>
          <p:cNvSpPr/>
          <p:nvPr/>
        </p:nvSpPr>
        <p:spPr>
          <a:xfrm>
            <a:off x="9509760" y="4160520"/>
            <a:ext cx="2240280" cy="640080"/>
          </a:xfrm>
          <a:prstGeom prst="rect">
            <a:avLst/>
          </a:prstGeom>
          <a:noFill/>
          <a:ln/>
        </p:spPr>
        <p:txBody>
          <a:bodyPr wrap="square" rtlCol="0" anchor="ctr"/>
          <a:lstStyle/>
          <a:p>
            <a:pPr algn="ctr" indent="0" marL="0">
              <a:buNone/>
            </a:pPr>
            <a:r>
              <a:rPr lang="en-US" sz="1400" dirty="0">
                <a:solidFill>
                  <a:srgbClr val="232C5E"/>
                </a:solidFill>
                <a:latin typeface="Courier New" pitchFamily="34" charset="0"/>
                <a:ea typeface="Courier New" pitchFamily="34" charset="-122"/>
                <a:cs typeface="Courier New" pitchFamily="34" charset="-120"/>
              </a:rPr>
              <a:t>/leads/{id}</a:t>
            </a:r>
            <a:endParaRPr lang="en-US" sz="1400" dirty="0"/>
          </a:p>
        </p:txBody>
      </p:sp>
      <p:sp>
        <p:nvSpPr>
          <p:cNvPr id="21" name="Text 19"/>
          <p:cNvSpPr/>
          <p:nvPr/>
        </p:nvSpPr>
        <p:spPr>
          <a:xfrm>
            <a:off x="11368735" y="6355080"/>
            <a:ext cx="548640" cy="320040"/>
          </a:xfrm>
          <a:prstGeom prst="rect">
            <a:avLst/>
          </a:prstGeom>
          <a:noFill/>
          <a:ln/>
        </p:spPr>
        <p:txBody>
          <a:bodyPr wrap="square" rtlCol="0" anchor="ctr"/>
          <a:lstStyle/>
          <a:p>
            <a:pPr algn="r" indent="0" marL="0">
              <a:buNone/>
            </a:pPr>
            <a:r>
              <a:rPr lang="en-US" sz="1000" dirty="0">
                <a:solidFill>
                  <a:srgbClr val="6E718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SECTION 7</a:t>
            </a:r>
            <a:endParaRPr lang="en-US" sz="1200" dirty="0"/>
          </a:p>
        </p:txBody>
      </p:sp>
      <p:sp>
        <p:nvSpPr>
          <p:cNvPr id="3" name="Text 1"/>
          <p:cNvSpPr/>
          <p:nvPr/>
        </p:nvSpPr>
        <p:spPr>
          <a:xfrm>
            <a:off x="548640" y="777240"/>
            <a:ext cx="8686800" cy="822960"/>
          </a:xfrm>
          <a:prstGeom prst="rect">
            <a:avLst/>
          </a:prstGeom>
          <a:noFill/>
          <a:ln/>
        </p:spPr>
        <p:txBody>
          <a:bodyPr wrap="square" rtlCol="0" anchor="ctr"/>
          <a:lstStyle/>
          <a:p>
            <a:pPr indent="0" marL="0">
              <a:buNone/>
            </a:pPr>
            <a:r>
              <a:rPr lang="en-US" sz="3400" b="1" dirty="0">
                <a:solidFill>
                  <a:srgbClr val="232C5E"/>
                </a:solidFill>
                <a:latin typeface="Bookman Old Style" pitchFamily="34" charset="0"/>
                <a:ea typeface="Bookman Old Style" pitchFamily="34" charset="-122"/>
                <a:cs typeface="Bookman Old Style" pitchFamily="34" charset="-120"/>
              </a:rPr>
              <a:t>Example Code Explanation</a:t>
            </a:r>
            <a:endParaRPr lang="en-US" sz="3400" dirty="0"/>
          </a:p>
        </p:txBody>
      </p:sp>
      <p:sp>
        <p:nvSpPr>
          <p:cNvPr id="4" name="Shape 2"/>
          <p:cNvSpPr/>
          <p:nvPr/>
        </p:nvSpPr>
        <p:spPr>
          <a:xfrm>
            <a:off x="548640" y="1783080"/>
            <a:ext cx="5212080" cy="4023360"/>
          </a:xfrm>
          <a:prstGeom prst="roundRect">
            <a:avLst>
              <a:gd name="adj" fmla="val 2273"/>
            </a:avLst>
          </a:prstGeom>
          <a:solidFill>
            <a:srgbClr val="232C5E"/>
          </a:solidFill>
          <a:ln/>
        </p:spPr>
      </p:sp>
      <p:sp>
        <p:nvSpPr>
          <p:cNvPr id="5" name="Shape 3"/>
          <p:cNvSpPr/>
          <p:nvPr/>
        </p:nvSpPr>
        <p:spPr>
          <a:xfrm>
            <a:off x="777240" y="1965960"/>
            <a:ext cx="164592" cy="164592"/>
          </a:xfrm>
          <a:prstGeom prst="ellipse">
            <a:avLst/>
          </a:prstGeom>
          <a:solidFill>
            <a:srgbClr val="F96167"/>
          </a:solidFill>
          <a:ln/>
        </p:spPr>
      </p:sp>
      <p:sp>
        <p:nvSpPr>
          <p:cNvPr id="6" name="Shape 4"/>
          <p:cNvSpPr/>
          <p:nvPr/>
        </p:nvSpPr>
        <p:spPr>
          <a:xfrm>
            <a:off x="1005840" y="1965960"/>
            <a:ext cx="164592" cy="164592"/>
          </a:xfrm>
          <a:prstGeom prst="ellipse">
            <a:avLst/>
          </a:prstGeom>
          <a:solidFill>
            <a:srgbClr val="F9E795"/>
          </a:solidFill>
          <a:ln/>
        </p:spPr>
      </p:sp>
      <p:sp>
        <p:nvSpPr>
          <p:cNvPr id="7" name="Shape 5"/>
          <p:cNvSpPr/>
          <p:nvPr/>
        </p:nvSpPr>
        <p:spPr>
          <a:xfrm>
            <a:off x="1234440" y="1965960"/>
            <a:ext cx="164592" cy="164592"/>
          </a:xfrm>
          <a:prstGeom prst="ellipse">
            <a:avLst/>
          </a:prstGeom>
          <a:solidFill>
            <a:srgbClr val="8A8FBF"/>
          </a:solidFill>
          <a:ln/>
        </p:spPr>
      </p:sp>
      <p:sp>
        <p:nvSpPr>
          <p:cNvPr id="8" name="Text 6"/>
          <p:cNvSpPr/>
          <p:nvPr/>
        </p:nvSpPr>
        <p:spPr>
          <a:xfrm>
            <a:off x="822960" y="2331720"/>
            <a:ext cx="4663440" cy="3200400"/>
          </a:xfrm>
          <a:prstGeom prst="rect">
            <a:avLst/>
          </a:prstGeom>
          <a:noFill/>
          <a:ln/>
        </p:spPr>
        <p:txBody>
          <a:bodyPr wrap="square" rtlCol="0" anchor="t"/>
          <a:lstStyle/>
          <a:p>
            <a:pPr indent="0" marL="0">
              <a:lnSpc>
                <a:spcPct val="130000"/>
              </a:lnSpc>
              <a:buNone/>
            </a:pPr>
            <a:r>
              <a:rPr lang="en-US" sz="1500" b="1" dirty="0">
                <a:solidFill>
                  <a:srgbClr val="F9E795"/>
                </a:solidFill>
                <a:latin typeface="Courier New" pitchFamily="34" charset="0"/>
                <a:ea typeface="Courier New" pitchFamily="34" charset="-122"/>
                <a:cs typeface="Courier New" pitchFamily="34" charset="-120"/>
              </a:rPr>
              <a:t>POST /leads
</a:t>
            </a:r>
            <a:pPr indent="0" marL="0">
              <a:lnSpc>
                <a:spcPct val="130000"/>
              </a:lnSpc>
              <a:buNone/>
            </a:pPr>
            <a:r>
              <a:rPr lang="en-US" sz="1500" dirty="0">
                <a:solidFill>
                  <a:srgbClr val="FFFFFF"/>
                </a:solidFill>
                <a:latin typeface="Courier New" pitchFamily="34" charset="0"/>
                <a:ea typeface="Courier New" pitchFamily="34" charset="-122"/>
                <a:cs typeface="Courier New" pitchFamily="34" charset="-120"/>
              </a:rPr>
              <a:t>{
</a:t>
            </a:r>
            <a:pPr indent="0" marL="0">
              <a:lnSpc>
                <a:spcPct val="130000"/>
              </a:lnSpc>
              <a:buNone/>
            </a:pPr>
            <a:r>
              <a:rPr lang="en-US" sz="1500" dirty="0">
                <a:solidFill>
                  <a:srgbClr val="9FD8C1"/>
                </a:solidFill>
                <a:latin typeface="Courier New" pitchFamily="34" charset="0"/>
                <a:ea typeface="Courier New" pitchFamily="34" charset="-122"/>
                <a:cs typeface="Courier New" pitchFamily="34" charset="-120"/>
              </a:rPr>
              <a:t>  "name": "..."</a:t>
            </a:r>
            <a:pPr indent="0" marL="0">
              <a:lnSpc>
                <a:spcPct val="130000"/>
              </a:lnSpc>
              <a:buNone/>
            </a:pPr>
            <a:r>
              <a:rPr lang="en-US" sz="1500" dirty="0">
                <a:solidFill>
                  <a:srgbClr val="FFFFFF"/>
                </a:solidFill>
                <a:latin typeface="Courier New" pitchFamily="34" charset="0"/>
                <a:ea typeface="Courier New" pitchFamily="34" charset="-122"/>
                <a:cs typeface="Courier New" pitchFamily="34" charset="-120"/>
              </a:rPr>
              <a:t>,
</a:t>
            </a:r>
            <a:pPr indent="0" marL="0">
              <a:lnSpc>
                <a:spcPct val="130000"/>
              </a:lnSpc>
              <a:buNone/>
            </a:pPr>
            <a:r>
              <a:rPr lang="en-US" sz="1500" dirty="0">
                <a:solidFill>
                  <a:srgbClr val="9FD8C1"/>
                </a:solidFill>
                <a:latin typeface="Courier New" pitchFamily="34" charset="0"/>
                <a:ea typeface="Courier New" pitchFamily="34" charset="-122"/>
                <a:cs typeface="Courier New" pitchFamily="34" charset="-120"/>
              </a:rPr>
              <a:t>  "company": "..."</a:t>
            </a:r>
            <a:pPr indent="0" marL="0">
              <a:lnSpc>
                <a:spcPct val="130000"/>
              </a:lnSpc>
              <a:buNone/>
            </a:pPr>
            <a:r>
              <a:rPr lang="en-US" sz="1500" dirty="0">
                <a:solidFill>
                  <a:srgbClr val="FFFFFF"/>
                </a:solidFill>
                <a:latin typeface="Courier New" pitchFamily="34" charset="0"/>
                <a:ea typeface="Courier New" pitchFamily="34" charset="-122"/>
                <a:cs typeface="Courier New" pitchFamily="34" charset="-120"/>
              </a:rPr>
              <a:t>,
</a:t>
            </a:r>
            <a:pPr indent="0" marL="0">
              <a:lnSpc>
                <a:spcPct val="130000"/>
              </a:lnSpc>
              <a:buNone/>
            </a:pPr>
            <a:r>
              <a:rPr lang="en-US" sz="1500" dirty="0">
                <a:solidFill>
                  <a:srgbClr val="9FD8C1"/>
                </a:solidFill>
                <a:latin typeface="Courier New" pitchFamily="34" charset="0"/>
                <a:ea typeface="Courier New" pitchFamily="34" charset="-122"/>
                <a:cs typeface="Courier New" pitchFamily="34" charset="-120"/>
              </a:rPr>
              <a:t>  "contact": "..."</a:t>
            </a:r>
            <a:pPr indent="0" marL="0">
              <a:lnSpc>
                <a:spcPct val="130000"/>
              </a:lnSpc>
              <a:buNone/>
            </a:pPr>
            <a:endParaRPr lang="en-US" sz="1500" dirty="0"/>
          </a:p>
          <a:p>
            <a:pPr indent="0" marL="0">
              <a:lnSpc>
                <a:spcPct val="130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p:txBody>
      </p:sp>
      <p:sp>
        <p:nvSpPr>
          <p:cNvPr id="9" name="Shape 7"/>
          <p:cNvSpPr/>
          <p:nvPr/>
        </p:nvSpPr>
        <p:spPr>
          <a:xfrm>
            <a:off x="5989320" y="1783080"/>
            <a:ext cx="5623560" cy="4023360"/>
          </a:xfrm>
          <a:prstGeom prst="roundRect">
            <a:avLst>
              <a:gd name="adj" fmla="val 2727"/>
            </a:avLst>
          </a:prstGeom>
          <a:solidFill>
            <a:srgbClr val="FFF7F3"/>
          </a:solidFill>
          <a:ln/>
          <a:effectLst>
            <a:outerShdw sx="100000" sy="100000" kx="0" ky="0" algn="bl" rotWithShape="0" blurRad="76200" dist="25400" dir="5400000">
              <a:srgbClr val="000000">
                <a:alpha val="10000"/>
              </a:srgbClr>
            </a:outerShdw>
          </a:effectLst>
        </p:spPr>
      </p:sp>
      <p:sp>
        <p:nvSpPr>
          <p:cNvPr id="10" name="Text 8"/>
          <p:cNvSpPr/>
          <p:nvPr/>
        </p:nvSpPr>
        <p:spPr>
          <a:xfrm>
            <a:off x="6309360" y="2103120"/>
            <a:ext cx="5029200" cy="3383280"/>
          </a:xfrm>
          <a:prstGeom prst="rect">
            <a:avLst/>
          </a:prstGeom>
          <a:noFill/>
          <a:ln/>
        </p:spPr>
        <p:txBody>
          <a:bodyPr wrap="square" rtlCol="0" anchor="t"/>
          <a:lstStyle/>
          <a:p>
            <a:pPr indent="0" marL="0">
              <a:lnSpc>
                <a:spcPct val="130000"/>
              </a:lnSpc>
              <a:buNone/>
            </a:pPr>
            <a:r>
              <a:rPr lang="en-US" sz="1600" dirty="0">
                <a:solidFill>
                  <a:srgbClr val="2B2B33"/>
                </a:solidFill>
                <a:latin typeface="Calibri" pitchFamily="34" charset="0"/>
                <a:ea typeface="Calibri" pitchFamily="34" charset="-122"/>
                <a:cs typeface="Calibri" pitchFamily="34" charset="-120"/>
              </a:rPr>
              <a:t>Example: POST /leads endpoint accepts JSON input containing name, company, and contact details. The backend validates this data, stores it in the database, and returns a success response. Similarly, GET /leads retrieves all records from the database.</a:t>
            </a:r>
            <a:endParaRPr lang="en-US" sz="1600" dirty="0"/>
          </a:p>
        </p:txBody>
      </p:sp>
      <p:sp>
        <p:nvSpPr>
          <p:cNvPr id="11" name="Text 9"/>
          <p:cNvSpPr/>
          <p:nvPr/>
        </p:nvSpPr>
        <p:spPr>
          <a:xfrm>
            <a:off x="11368735" y="6355080"/>
            <a:ext cx="548640" cy="320040"/>
          </a:xfrm>
          <a:prstGeom prst="rect">
            <a:avLst/>
          </a:prstGeom>
          <a:noFill/>
          <a:ln/>
        </p:spPr>
        <p:txBody>
          <a:bodyPr wrap="square" rtlCol="0" anchor="ctr"/>
          <a:lstStyle/>
          <a:p>
            <a:pPr algn="r" indent="0" marL="0">
              <a:buNone/>
            </a:pPr>
            <a:r>
              <a:rPr lang="en-US" sz="1000" dirty="0">
                <a:solidFill>
                  <a:srgbClr val="6E718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SECTION 8</a:t>
            </a:r>
            <a:endParaRPr lang="en-US" sz="1200" dirty="0"/>
          </a:p>
        </p:txBody>
      </p:sp>
      <p:sp>
        <p:nvSpPr>
          <p:cNvPr id="3" name="Text 1"/>
          <p:cNvSpPr/>
          <p:nvPr/>
        </p:nvSpPr>
        <p:spPr>
          <a:xfrm>
            <a:off x="548640" y="777240"/>
            <a:ext cx="8686800" cy="822960"/>
          </a:xfrm>
          <a:prstGeom prst="rect">
            <a:avLst/>
          </a:prstGeom>
          <a:noFill/>
          <a:ln/>
        </p:spPr>
        <p:txBody>
          <a:bodyPr wrap="square" rtlCol="0" anchor="ctr"/>
          <a:lstStyle/>
          <a:p>
            <a:pPr indent="0" marL="0">
              <a:buNone/>
            </a:pPr>
            <a:r>
              <a:rPr lang="en-US" sz="3400" b="1" dirty="0">
                <a:solidFill>
                  <a:srgbClr val="232C5E"/>
                </a:solidFill>
                <a:latin typeface="Bookman Old Style" pitchFamily="34" charset="0"/>
                <a:ea typeface="Bookman Old Style" pitchFamily="34" charset="-122"/>
                <a:cs typeface="Bookman Old Style" pitchFamily="34" charset="-120"/>
              </a:rPr>
              <a:t>Error Handling</a:t>
            </a:r>
            <a:endParaRPr lang="en-US" sz="3400" dirty="0"/>
          </a:p>
        </p:txBody>
      </p:sp>
      <p:sp>
        <p:nvSpPr>
          <p:cNvPr id="4" name="Text 2"/>
          <p:cNvSpPr/>
          <p:nvPr/>
        </p:nvSpPr>
        <p:spPr>
          <a:xfrm>
            <a:off x="548640" y="1691640"/>
            <a:ext cx="11064240" cy="1188720"/>
          </a:xfrm>
          <a:prstGeom prst="rect">
            <a:avLst/>
          </a:prstGeom>
          <a:noFill/>
          <a:ln/>
        </p:spPr>
        <p:txBody>
          <a:bodyPr wrap="square" rtlCol="0" anchor="t"/>
          <a:lstStyle/>
          <a:p>
            <a:pPr indent="0" marL="0">
              <a:lnSpc>
                <a:spcPct val="125000"/>
              </a:lnSpc>
              <a:buNone/>
            </a:pPr>
            <a:r>
              <a:rPr lang="en-US" sz="1600" dirty="0">
                <a:solidFill>
                  <a:srgbClr val="2B2B33"/>
                </a:solidFill>
                <a:latin typeface="Calibri" pitchFamily="34" charset="0"/>
                <a:ea typeface="Calibri" pitchFamily="34" charset="-122"/>
                <a:cs typeface="Calibri" pitchFamily="34" charset="-120"/>
              </a:rPr>
              <a:t>During development, I encountered errors such as 404 Not Found and 405 Method Not Allowed. These were resolved by correcting API routes and HTTP methods. Proper error handling ensures better user experience.</a:t>
            </a:r>
            <a:endParaRPr lang="en-US" sz="1600" dirty="0"/>
          </a:p>
        </p:txBody>
      </p:sp>
      <p:sp>
        <p:nvSpPr>
          <p:cNvPr id="5" name="Shape 3"/>
          <p:cNvSpPr/>
          <p:nvPr/>
        </p:nvSpPr>
        <p:spPr>
          <a:xfrm>
            <a:off x="548640" y="3246120"/>
            <a:ext cx="5349240" cy="2468880"/>
          </a:xfrm>
          <a:prstGeom prst="roundRect">
            <a:avLst>
              <a:gd name="adj" fmla="val 4444"/>
            </a:avLst>
          </a:prstGeom>
          <a:solidFill>
            <a:srgbClr val="F96167"/>
          </a:solidFill>
          <a:ln/>
          <a:effectLst>
            <a:outerShdw sx="100000" sy="100000" kx="0" ky="0" algn="bl" rotWithShape="0" blurRad="76200" dist="25400" dir="5400000">
              <a:srgbClr val="000000">
                <a:alpha val="12000"/>
              </a:srgbClr>
            </a:outerShdw>
          </a:effectLst>
        </p:spPr>
      </p:sp>
      <p:sp>
        <p:nvSpPr>
          <p:cNvPr id="6" name="Text 4"/>
          <p:cNvSpPr/>
          <p:nvPr/>
        </p:nvSpPr>
        <p:spPr>
          <a:xfrm>
            <a:off x="822960" y="3474720"/>
            <a:ext cx="2286000" cy="1005840"/>
          </a:xfrm>
          <a:prstGeom prst="rect">
            <a:avLst/>
          </a:prstGeom>
          <a:noFill/>
          <a:ln/>
        </p:spPr>
        <p:txBody>
          <a:bodyPr wrap="square" rtlCol="0" anchor="ctr"/>
          <a:lstStyle/>
          <a:p>
            <a:pPr indent="0" marL="0">
              <a:buNone/>
            </a:pPr>
            <a:r>
              <a:rPr lang="en-US" sz="4800" b="1" dirty="0">
                <a:solidFill>
                  <a:srgbClr val="FFFFFF"/>
                </a:solidFill>
                <a:latin typeface="Bookman Old Style" pitchFamily="34" charset="0"/>
                <a:ea typeface="Bookman Old Style" pitchFamily="34" charset="-122"/>
                <a:cs typeface="Bookman Old Style" pitchFamily="34" charset="-120"/>
              </a:rPr>
              <a:t>404</a:t>
            </a:r>
            <a:endParaRPr lang="en-US" sz="4800" dirty="0"/>
          </a:p>
        </p:txBody>
      </p:sp>
      <p:sp>
        <p:nvSpPr>
          <p:cNvPr id="7" name="Text 5"/>
          <p:cNvSpPr/>
          <p:nvPr/>
        </p:nvSpPr>
        <p:spPr>
          <a:xfrm>
            <a:off x="822960" y="4434840"/>
            <a:ext cx="480060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Not Found</a:t>
            </a:r>
            <a:endParaRPr lang="en-US" sz="1600" dirty="0"/>
          </a:p>
        </p:txBody>
      </p:sp>
      <p:sp>
        <p:nvSpPr>
          <p:cNvPr id="8" name="Text 6"/>
          <p:cNvSpPr/>
          <p:nvPr/>
        </p:nvSpPr>
        <p:spPr>
          <a:xfrm>
            <a:off x="822960" y="4937760"/>
            <a:ext cx="48006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Resolved by correcting API routes</a:t>
            </a:r>
            <a:endParaRPr lang="en-US" sz="1300" dirty="0"/>
          </a:p>
        </p:txBody>
      </p:sp>
      <p:sp>
        <p:nvSpPr>
          <p:cNvPr id="9" name="Shape 7"/>
          <p:cNvSpPr/>
          <p:nvPr/>
        </p:nvSpPr>
        <p:spPr>
          <a:xfrm>
            <a:off x="6263640" y="3246120"/>
            <a:ext cx="5349240" cy="2468880"/>
          </a:xfrm>
          <a:prstGeom prst="roundRect">
            <a:avLst>
              <a:gd name="adj" fmla="val 4444"/>
            </a:avLst>
          </a:prstGeom>
          <a:solidFill>
            <a:srgbClr val="2F3C7E"/>
          </a:solidFill>
          <a:ln/>
          <a:effectLst>
            <a:outerShdw sx="100000" sy="100000" kx="0" ky="0" algn="bl" rotWithShape="0" blurRad="76200" dist="25400" dir="5400000">
              <a:srgbClr val="000000">
                <a:alpha val="12000"/>
              </a:srgbClr>
            </a:outerShdw>
          </a:effectLst>
        </p:spPr>
      </p:sp>
      <p:sp>
        <p:nvSpPr>
          <p:cNvPr id="10" name="Text 8"/>
          <p:cNvSpPr/>
          <p:nvPr/>
        </p:nvSpPr>
        <p:spPr>
          <a:xfrm>
            <a:off x="6537960" y="3474720"/>
            <a:ext cx="2286000" cy="1005840"/>
          </a:xfrm>
          <a:prstGeom prst="rect">
            <a:avLst/>
          </a:prstGeom>
          <a:noFill/>
          <a:ln/>
        </p:spPr>
        <p:txBody>
          <a:bodyPr wrap="square" rtlCol="0" anchor="ctr"/>
          <a:lstStyle/>
          <a:p>
            <a:pPr indent="0" marL="0">
              <a:buNone/>
            </a:pPr>
            <a:r>
              <a:rPr lang="en-US" sz="4800" b="1" dirty="0">
                <a:solidFill>
                  <a:srgbClr val="FFFFFF"/>
                </a:solidFill>
                <a:latin typeface="Bookman Old Style" pitchFamily="34" charset="0"/>
                <a:ea typeface="Bookman Old Style" pitchFamily="34" charset="-122"/>
                <a:cs typeface="Bookman Old Style" pitchFamily="34" charset="-120"/>
              </a:rPr>
              <a:t>405</a:t>
            </a:r>
            <a:endParaRPr lang="en-US" sz="4800" dirty="0"/>
          </a:p>
        </p:txBody>
      </p:sp>
      <p:sp>
        <p:nvSpPr>
          <p:cNvPr id="11" name="Text 9"/>
          <p:cNvSpPr/>
          <p:nvPr/>
        </p:nvSpPr>
        <p:spPr>
          <a:xfrm>
            <a:off x="6537960" y="4434840"/>
            <a:ext cx="480060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Method Not Allowed</a:t>
            </a:r>
            <a:endParaRPr lang="en-US" sz="1600" dirty="0"/>
          </a:p>
        </p:txBody>
      </p:sp>
      <p:sp>
        <p:nvSpPr>
          <p:cNvPr id="12" name="Text 10"/>
          <p:cNvSpPr/>
          <p:nvPr/>
        </p:nvSpPr>
        <p:spPr>
          <a:xfrm>
            <a:off x="6537960" y="4937760"/>
            <a:ext cx="48006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Resolved by correcting HTTP methods</a:t>
            </a:r>
            <a:endParaRPr lang="en-US" sz="1300" dirty="0"/>
          </a:p>
        </p:txBody>
      </p:sp>
      <p:sp>
        <p:nvSpPr>
          <p:cNvPr id="13" name="Text 11"/>
          <p:cNvSpPr/>
          <p:nvPr/>
        </p:nvSpPr>
        <p:spPr>
          <a:xfrm>
            <a:off x="11368735" y="6355080"/>
            <a:ext cx="548640" cy="320040"/>
          </a:xfrm>
          <a:prstGeom prst="rect">
            <a:avLst/>
          </a:prstGeom>
          <a:noFill/>
          <a:ln/>
        </p:spPr>
        <p:txBody>
          <a:bodyPr wrap="square" rtlCol="0" anchor="ctr"/>
          <a:lstStyle/>
          <a:p>
            <a:pPr algn="r" indent="0" marL="0">
              <a:buNone/>
            </a:pPr>
            <a:r>
              <a:rPr lang="en-US" sz="1000" dirty="0">
                <a:solidFill>
                  <a:srgbClr val="6E718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SECTION 9</a:t>
            </a:r>
            <a:endParaRPr lang="en-US" sz="1200" dirty="0"/>
          </a:p>
        </p:txBody>
      </p:sp>
      <p:sp>
        <p:nvSpPr>
          <p:cNvPr id="3" name="Text 1"/>
          <p:cNvSpPr/>
          <p:nvPr/>
        </p:nvSpPr>
        <p:spPr>
          <a:xfrm>
            <a:off x="548640" y="777240"/>
            <a:ext cx="8686800" cy="822960"/>
          </a:xfrm>
          <a:prstGeom prst="rect">
            <a:avLst/>
          </a:prstGeom>
          <a:noFill/>
          <a:ln/>
        </p:spPr>
        <p:txBody>
          <a:bodyPr wrap="square" rtlCol="0" anchor="ctr"/>
          <a:lstStyle/>
          <a:p>
            <a:pPr indent="0" marL="0">
              <a:buNone/>
            </a:pPr>
            <a:r>
              <a:rPr lang="en-US" sz="3400" b="1" dirty="0">
                <a:solidFill>
                  <a:srgbClr val="232C5E"/>
                </a:solidFill>
                <a:latin typeface="Bookman Old Style" pitchFamily="34" charset="0"/>
                <a:ea typeface="Bookman Old Style" pitchFamily="34" charset="-122"/>
                <a:cs typeface="Bookman Old Style" pitchFamily="34" charset="-120"/>
              </a:rPr>
              <a:t>Deliverables</a:t>
            </a:r>
            <a:endParaRPr lang="en-US" sz="3400" dirty="0"/>
          </a:p>
        </p:txBody>
      </p:sp>
      <p:sp>
        <p:nvSpPr>
          <p:cNvPr id="4" name="Shape 2"/>
          <p:cNvSpPr/>
          <p:nvPr/>
        </p:nvSpPr>
        <p:spPr>
          <a:xfrm>
            <a:off x="548640" y="1783080"/>
            <a:ext cx="5120640" cy="4023360"/>
          </a:xfrm>
          <a:prstGeom prst="roundRect">
            <a:avLst>
              <a:gd name="adj" fmla="val 2727"/>
            </a:avLst>
          </a:prstGeom>
          <a:solidFill>
            <a:srgbClr val="232C5E"/>
          </a:solidFill>
          <a:ln/>
        </p:spPr>
      </p:sp>
      <p:sp>
        <p:nvSpPr>
          <p:cNvPr id="5" name="Shape 3"/>
          <p:cNvSpPr/>
          <p:nvPr/>
        </p:nvSpPr>
        <p:spPr>
          <a:xfrm>
            <a:off x="914400" y="2148840"/>
            <a:ext cx="914400" cy="914400"/>
          </a:xfrm>
          <a:prstGeom prst="ellipse">
            <a:avLst/>
          </a:prstGeom>
          <a:solidFill>
            <a:srgbClr val="F96167"/>
          </a:solidFill>
          <a:ln/>
        </p:spPr>
      </p:sp>
      <p:sp>
        <p:nvSpPr>
          <p:cNvPr id="6" name="Text 4"/>
          <p:cNvSpPr/>
          <p:nvPr/>
        </p:nvSpPr>
        <p:spPr>
          <a:xfrm>
            <a:off x="914400" y="2148840"/>
            <a:ext cx="914400" cy="9144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OK</a:t>
            </a:r>
            <a:endParaRPr lang="en-US" sz="1800" dirty="0"/>
          </a:p>
        </p:txBody>
      </p:sp>
      <p:sp>
        <p:nvSpPr>
          <p:cNvPr id="7" name="Text 5"/>
          <p:cNvSpPr/>
          <p:nvPr/>
        </p:nvSpPr>
        <p:spPr>
          <a:xfrm>
            <a:off x="822960" y="3246120"/>
            <a:ext cx="4572000" cy="548640"/>
          </a:xfrm>
          <a:prstGeom prst="rect">
            <a:avLst/>
          </a:prstGeom>
          <a:noFill/>
          <a:ln/>
        </p:spPr>
        <p:txBody>
          <a:bodyPr wrap="square" rtlCol="0" anchor="ctr"/>
          <a:lstStyle/>
          <a:p>
            <a:pPr indent="0" marL="0">
              <a:buNone/>
            </a:pPr>
            <a:r>
              <a:rPr lang="en-US" sz="2200" b="1" dirty="0">
                <a:solidFill>
                  <a:srgbClr val="FFFFFF"/>
                </a:solidFill>
                <a:latin typeface="Bookman Old Style" pitchFamily="34" charset="0"/>
                <a:ea typeface="Bookman Old Style" pitchFamily="34" charset="-122"/>
                <a:cs typeface="Bookman Old Style" pitchFamily="34" charset="-120"/>
              </a:rPr>
              <a:t>Prospect CRUD API</a:t>
            </a:r>
            <a:endParaRPr lang="en-US" sz="2200" dirty="0"/>
          </a:p>
        </p:txBody>
      </p:sp>
      <p:sp>
        <p:nvSpPr>
          <p:cNvPr id="8" name="Text 6"/>
          <p:cNvSpPr/>
          <p:nvPr/>
        </p:nvSpPr>
        <p:spPr>
          <a:xfrm>
            <a:off x="822960" y="3794760"/>
            <a:ext cx="4572000" cy="365760"/>
          </a:xfrm>
          <a:prstGeom prst="rect">
            <a:avLst/>
          </a:prstGeom>
          <a:noFill/>
          <a:ln/>
        </p:spPr>
        <p:txBody>
          <a:bodyPr wrap="square" rtlCol="0" anchor="ctr"/>
          <a:lstStyle/>
          <a:p>
            <a:pPr indent="0" marL="0">
              <a:buNone/>
            </a:pPr>
            <a:r>
              <a:rPr lang="en-US" sz="1400" dirty="0">
                <a:solidFill>
                  <a:srgbClr val="F9E795"/>
                </a:solidFill>
                <a:latin typeface="Calibri" pitchFamily="34" charset="0"/>
                <a:ea typeface="Calibri" pitchFamily="34" charset="-122"/>
                <a:cs typeface="Calibri" pitchFamily="34" charset="-120"/>
              </a:rPr>
              <a:t>Built using FastAPI</a:t>
            </a:r>
            <a:endParaRPr lang="en-US" sz="1400" dirty="0"/>
          </a:p>
        </p:txBody>
      </p:sp>
      <p:sp>
        <p:nvSpPr>
          <p:cNvPr id="9" name="Text 7"/>
          <p:cNvSpPr/>
          <p:nvPr/>
        </p:nvSpPr>
        <p:spPr>
          <a:xfrm>
            <a:off x="822960" y="4937760"/>
            <a:ext cx="4480560" cy="5486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Tested successfully using Streamlit</a:t>
            </a:r>
            <a:endParaRPr lang="en-US" sz="1300" dirty="0"/>
          </a:p>
        </p:txBody>
      </p:sp>
      <p:sp>
        <p:nvSpPr>
          <p:cNvPr id="10" name="Shape 8"/>
          <p:cNvSpPr/>
          <p:nvPr/>
        </p:nvSpPr>
        <p:spPr>
          <a:xfrm>
            <a:off x="5943600" y="1783080"/>
            <a:ext cx="5669280" cy="4023360"/>
          </a:xfrm>
          <a:prstGeom prst="roundRect">
            <a:avLst>
              <a:gd name="adj" fmla="val 2727"/>
            </a:avLst>
          </a:prstGeom>
          <a:solidFill>
            <a:srgbClr val="FFF7F3"/>
          </a:solidFill>
          <a:ln/>
          <a:effectLst>
            <a:outerShdw sx="100000" sy="100000" kx="0" ky="0" algn="bl" rotWithShape="0" blurRad="76200" dist="25400" dir="5400000">
              <a:srgbClr val="000000">
                <a:alpha val="10000"/>
              </a:srgbClr>
            </a:outerShdw>
          </a:effectLst>
        </p:spPr>
      </p:sp>
      <p:sp>
        <p:nvSpPr>
          <p:cNvPr id="11" name="Text 9"/>
          <p:cNvSpPr/>
          <p:nvPr/>
        </p:nvSpPr>
        <p:spPr>
          <a:xfrm>
            <a:off x="6263640" y="2103120"/>
            <a:ext cx="5029200" cy="3383280"/>
          </a:xfrm>
          <a:prstGeom prst="rect">
            <a:avLst/>
          </a:prstGeom>
          <a:noFill/>
          <a:ln/>
        </p:spPr>
        <p:txBody>
          <a:bodyPr wrap="square" rtlCol="0" anchor="t"/>
          <a:lstStyle/>
          <a:p>
            <a:pPr indent="0" marL="0">
              <a:lnSpc>
                <a:spcPct val="130000"/>
              </a:lnSpc>
              <a:buNone/>
            </a:pPr>
            <a:r>
              <a:rPr lang="en-US" sz="1600" dirty="0">
                <a:solidFill>
                  <a:srgbClr val="2B2B33"/>
                </a:solidFill>
                <a:latin typeface="Calibri" pitchFamily="34" charset="0"/>
                <a:ea typeface="Calibri" pitchFamily="34" charset="-122"/>
                <a:cs typeface="Calibri" pitchFamily="34" charset="-120"/>
              </a:rPr>
              <a:t>The final deliverable for Day 7 is a fully functional Prospect CRUD API built using FastAPI. It supports all basic operations and has been tested successfully using Streamlit.</a:t>
            </a:r>
            <a:endParaRPr lang="en-US" sz="1600" dirty="0"/>
          </a:p>
        </p:txBody>
      </p:sp>
      <p:sp>
        <p:nvSpPr>
          <p:cNvPr id="12" name="Text 10"/>
          <p:cNvSpPr/>
          <p:nvPr/>
        </p:nvSpPr>
        <p:spPr>
          <a:xfrm>
            <a:off x="11368735" y="6355080"/>
            <a:ext cx="548640" cy="320040"/>
          </a:xfrm>
          <a:prstGeom prst="rect">
            <a:avLst/>
          </a:prstGeom>
          <a:noFill/>
          <a:ln/>
        </p:spPr>
        <p:txBody>
          <a:bodyPr wrap="square" rtlCol="0" anchor="ctr"/>
          <a:lstStyle/>
          <a:p>
            <a:pPr algn="r" indent="0" marL="0">
              <a:buNone/>
            </a:pPr>
            <a:r>
              <a:rPr lang="en-US" sz="1000" dirty="0">
                <a:solidFill>
                  <a:srgbClr val="6E71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32C5E"/>
        </a:solidFill>
      </p:bgPr>
    </p:bg>
    <p:spTree>
      <p:nvGrpSpPr>
        <p:cNvPr id="1" name=""/>
        <p:cNvGrpSpPr/>
        <p:nvPr/>
      </p:nvGrpSpPr>
      <p:grpSpPr>
        <a:xfrm>
          <a:off x="0" y="0"/>
          <a:ext cx="0" cy="0"/>
          <a:chOff x="0" y="0"/>
          <a:chExt cx="0" cy="0"/>
        </a:xfrm>
      </p:grpSpPr>
      <p:sp>
        <p:nvSpPr>
          <p:cNvPr id="2" name="Shape 0"/>
          <p:cNvSpPr/>
          <p:nvPr/>
        </p:nvSpPr>
        <p:spPr>
          <a:xfrm>
            <a:off x="-1371600" y="-1463040"/>
            <a:ext cx="4023360" cy="4023360"/>
          </a:xfrm>
          <a:prstGeom prst="ellipse">
            <a:avLst/>
          </a:prstGeom>
          <a:solidFill>
            <a:srgbClr val="F96167"/>
          </a:solidFill>
          <a:ln/>
        </p:spPr>
      </p:sp>
      <p:sp>
        <p:nvSpPr>
          <p:cNvPr id="3" name="Shape 1"/>
          <p:cNvSpPr/>
          <p:nvPr/>
        </p:nvSpPr>
        <p:spPr>
          <a:xfrm>
            <a:off x="10241280" y="4389120"/>
            <a:ext cx="3108960" cy="3108960"/>
          </a:xfrm>
          <a:prstGeom prst="ellipse">
            <a:avLst/>
          </a:prstGeom>
          <a:solidFill>
            <a:srgbClr val="F9E795"/>
          </a:solidFill>
          <a:ln/>
        </p:spPr>
      </p:sp>
      <p:sp>
        <p:nvSpPr>
          <p:cNvPr id="4" name="Text 2"/>
          <p:cNvSpPr/>
          <p:nvPr/>
        </p:nvSpPr>
        <p:spPr>
          <a:xfrm>
            <a:off x="640080" y="1371600"/>
            <a:ext cx="5486400" cy="365760"/>
          </a:xfrm>
          <a:prstGeom prst="rect">
            <a:avLst/>
          </a:prstGeom>
          <a:noFill/>
          <a:ln/>
        </p:spPr>
        <p:txBody>
          <a:bodyPr wrap="square" rtlCol="0" anchor="ctr"/>
          <a:lstStyle/>
          <a:p>
            <a:pPr indent="0" marL="0">
              <a:buNone/>
            </a:pPr>
            <a:r>
              <a:rPr lang="en-US" sz="1200" b="1" spc="200" kern="0" dirty="0">
                <a:solidFill>
                  <a:srgbClr val="F9E795"/>
                </a:solidFill>
                <a:latin typeface="Calibri" pitchFamily="34" charset="0"/>
                <a:ea typeface="Calibri" pitchFamily="34" charset="-122"/>
                <a:cs typeface="Calibri" pitchFamily="34" charset="-120"/>
              </a:rPr>
              <a:t>SECTION 10</a:t>
            </a:r>
            <a:endParaRPr lang="en-US" sz="1200" dirty="0"/>
          </a:p>
        </p:txBody>
      </p:sp>
      <p:sp>
        <p:nvSpPr>
          <p:cNvPr id="5" name="Text 3"/>
          <p:cNvSpPr/>
          <p:nvPr/>
        </p:nvSpPr>
        <p:spPr>
          <a:xfrm>
            <a:off x="640080" y="1783080"/>
            <a:ext cx="7315200" cy="822960"/>
          </a:xfrm>
          <a:prstGeom prst="rect">
            <a:avLst/>
          </a:prstGeom>
          <a:noFill/>
          <a:ln/>
        </p:spPr>
        <p:txBody>
          <a:bodyPr wrap="square" rtlCol="0" anchor="ctr"/>
          <a:lstStyle/>
          <a:p>
            <a:pPr indent="0" marL="0">
              <a:buNone/>
            </a:pPr>
            <a:r>
              <a:rPr lang="en-US" sz="3800" b="1" dirty="0">
                <a:solidFill>
                  <a:srgbClr val="FFFFFF"/>
                </a:solidFill>
                <a:latin typeface="Bookman Old Style" pitchFamily="34" charset="0"/>
                <a:ea typeface="Bookman Old Style" pitchFamily="34" charset="-122"/>
                <a:cs typeface="Bookman Old Style" pitchFamily="34" charset="-120"/>
              </a:rPr>
              <a:t>Conclusion</a:t>
            </a:r>
            <a:endParaRPr lang="en-US" sz="3800" dirty="0"/>
          </a:p>
        </p:txBody>
      </p:sp>
      <p:sp>
        <p:nvSpPr>
          <p:cNvPr id="6" name="Text 4"/>
          <p:cNvSpPr/>
          <p:nvPr/>
        </p:nvSpPr>
        <p:spPr>
          <a:xfrm>
            <a:off x="640080" y="2834640"/>
            <a:ext cx="8686800" cy="1645920"/>
          </a:xfrm>
          <a:prstGeom prst="rect">
            <a:avLst/>
          </a:prstGeom>
          <a:noFill/>
          <a:ln/>
        </p:spPr>
        <p:txBody>
          <a:bodyPr wrap="square" rtlCol="0" anchor="t"/>
          <a:lstStyle/>
          <a:p>
            <a:pPr indent="0" marL="0">
              <a:lnSpc>
                <a:spcPct val="135000"/>
              </a:lnSpc>
              <a:buNone/>
            </a:pPr>
            <a:r>
              <a:rPr lang="en-US" sz="1800" dirty="0">
                <a:solidFill>
                  <a:srgbClr val="FFFFFF"/>
                </a:solidFill>
                <a:latin typeface="Calibri" pitchFamily="34" charset="0"/>
                <a:ea typeface="Calibri" pitchFamily="34" charset="-122"/>
                <a:cs typeface="Calibri" pitchFamily="34" charset="-120"/>
              </a:rPr>
              <a:t>This module successfully implements the core backend functionality required for managing leads. It provides a strong foundation for future modules such as lead intelligence and scoring.</a:t>
            </a:r>
            <a:endParaRPr lang="en-US" sz="1800" dirty="0"/>
          </a:p>
        </p:txBody>
      </p:sp>
      <p:sp>
        <p:nvSpPr>
          <p:cNvPr id="7" name="Text 5"/>
          <p:cNvSpPr/>
          <p:nvPr/>
        </p:nvSpPr>
        <p:spPr>
          <a:xfrm>
            <a:off x="11368735" y="6355080"/>
            <a:ext cx="548640" cy="320040"/>
          </a:xfrm>
          <a:prstGeom prst="rect">
            <a:avLst/>
          </a:prstGeom>
          <a:noFill/>
          <a:ln/>
        </p:spPr>
        <p:txBody>
          <a:bodyPr wrap="square" rtlCol="0" anchor="ctr"/>
          <a:lstStyle/>
          <a:p>
            <a:pPr algn="r" indent="0" marL="0">
              <a:buNone/>
            </a:pPr>
            <a:r>
              <a:rPr lang="en-US" sz="1000" dirty="0">
                <a:solidFill>
                  <a:srgbClr val="6E71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2026-07-22T05:46:49Z</dcterms:created>
  <dcterms:modified xsi:type="dcterms:W3CDTF">2026-07-22T05:46:49Z</dcterms:modified>
</cp:coreProperties>
</file>